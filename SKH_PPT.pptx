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mo Bold" charset="1" panose="020B0704020202020204"/>
      <p:regular r:id="rId12"/>
    </p:embeddedFont>
    <p:embeddedFont>
      <p:font typeface="Times New Roman Bold" charset="1" panose="02020803070505020304"/>
      <p:regular r:id="rId13"/>
    </p:embeddedFont>
    <p:embeddedFont>
      <p:font typeface="Garamond Bold" charset="1" panose="02020804030307010803"/>
      <p:regular r:id="rId14"/>
    </p:embeddedFont>
    <p:embeddedFont>
      <p:font typeface="Times New Roman" charset="1" panose="020206030504050203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9.png" Type="http://schemas.openxmlformats.org/officeDocument/2006/relationships/image"/><Relationship Id="rId3" Target="../media/image8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icar.org.in" TargetMode="External" Type="http://schemas.openxmlformats.org/officeDocument/2006/relationships/hyperlink"/><Relationship Id="rId11" Target="https://krishi.maharashtra.gov.in" TargetMode="External" Type="http://schemas.openxmlformats.org/officeDocument/2006/relationships/hyperlink"/><Relationship Id="rId12" Target="https://www.fao.org" TargetMode="External" Type="http://schemas.openxmlformats.org/officeDocument/2006/relationships/hyperlink"/><Relationship Id="rId13" Target="https://enam.gov.in" TargetMode="External" Type="http://schemas.openxmlformats.org/officeDocument/2006/relationships/hyperlink"/><Relationship Id="rId14" Target="https://agricoop.gov.in" TargetMode="External" Type="http://schemas.openxmlformats.org/officeDocument/2006/relationships/hyperlink"/><Relationship Id="rId15" Target="../media/image1.png" Type="http://schemas.openxmlformats.org/officeDocument/2006/relationships/image"/><Relationship Id="rId2" Target="../media/image2.png" Type="http://schemas.openxmlformats.org/officeDocument/2006/relationships/image"/><Relationship Id="rId3" Target="../media/image14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8.png" Type="http://schemas.openxmlformats.org/officeDocument/2006/relationships/image"/><Relationship Id="rId7" Target="../media/image7.pn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9532144"/>
            <a:ext cx="18281094" cy="754856"/>
            <a:chOff x="0" y="0"/>
            <a:chExt cx="18281091" cy="7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0"/>
              <a:ext cx="18278092" cy="754894"/>
            </a:xfrm>
            <a:custGeom>
              <a:avLst/>
              <a:gdLst/>
              <a:ahLst/>
              <a:cxnLst/>
              <a:rect r="r" b="b" t="t" l="l"/>
              <a:pathLst>
                <a:path h="754894" w="18278092">
                  <a:moveTo>
                    <a:pt x="0" y="0"/>
                  </a:moveTo>
                  <a:lnTo>
                    <a:pt x="0" y="754894"/>
                  </a:lnTo>
                  <a:lnTo>
                    <a:pt x="18278092" y="754894"/>
                  </a:lnTo>
                  <a:lnTo>
                    <a:pt x="18278092" y="0"/>
                  </a:ln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479361" y="1478861"/>
            <a:ext cx="7329278" cy="7329278"/>
            <a:chOff x="0" y="0"/>
            <a:chExt cx="9772371" cy="97723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0" y="0"/>
                  </a:moveTo>
                  <a:lnTo>
                    <a:pt x="9772396" y="0"/>
                  </a:lnTo>
                  <a:lnTo>
                    <a:pt x="9772396" y="9772396"/>
                  </a:lnTo>
                  <a:lnTo>
                    <a:pt x="0" y="977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885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61324" y="389868"/>
            <a:ext cx="1946472" cy="1277683"/>
          </a:xfrm>
          <a:custGeom>
            <a:avLst/>
            <a:gdLst/>
            <a:ahLst/>
            <a:cxnLst/>
            <a:rect r="r" b="b" t="t" l="l"/>
            <a:pathLst>
              <a:path h="1277683" w="1946472">
                <a:moveTo>
                  <a:pt x="0" y="0"/>
                </a:moveTo>
                <a:lnTo>
                  <a:pt x="1946472" y="0"/>
                </a:lnTo>
                <a:lnTo>
                  <a:pt x="1946472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246356" y="9639081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605195" y="1107967"/>
            <a:ext cx="45720" cy="415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b="true" sz="23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9954" y="9531096"/>
            <a:ext cx="18288000" cy="755904"/>
          </a:xfrm>
          <a:custGeom>
            <a:avLst/>
            <a:gdLst/>
            <a:ahLst/>
            <a:cxnLst/>
            <a:rect r="r" b="b" t="t" l="l"/>
            <a:pathLst>
              <a:path h="755904" w="18288000">
                <a:moveTo>
                  <a:pt x="0" y="0"/>
                </a:moveTo>
                <a:lnTo>
                  <a:pt x="18288000" y="0"/>
                </a:lnTo>
                <a:lnTo>
                  <a:pt x="18288000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704939" y="9600074"/>
            <a:ext cx="2878122" cy="60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 skh.sanjivaniuniversity.co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41789" y="600589"/>
            <a:ext cx="12625983" cy="1005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8"/>
              </a:lnSpc>
            </a:pPr>
            <a:r>
              <a:rPr lang="en-US" b="true" sz="5798">
                <a:solidFill>
                  <a:srgbClr val="1F497D"/>
                </a:solidFill>
                <a:latin typeface="Garamond Bold"/>
                <a:ea typeface="Garamond Bold"/>
                <a:cs typeface="Garamond Bold"/>
                <a:sym typeface="Garamond Bold"/>
              </a:rPr>
              <a:t>SMART KOPARGOAN HACKATHON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83000" y="163801"/>
            <a:ext cx="2024796" cy="2024796"/>
            <a:chOff x="0" y="0"/>
            <a:chExt cx="2804160" cy="2804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1994" y="2495521"/>
            <a:ext cx="18084013" cy="623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8347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</a:t>
            </a: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SHK007</a:t>
            </a:r>
          </a:p>
          <a:p>
            <a:pPr algn="l" marL="755651" indent="-377825" lvl="1">
              <a:lnSpc>
                <a:spcPts val="8347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35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smart farm operations &amp; Resource Coordination platform</a:t>
            </a:r>
          </a:p>
          <a:p>
            <a:pPr algn="l" marL="755651" indent="-377825" lvl="1">
              <a:lnSpc>
                <a:spcPts val="8347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Agriculture &amp; Rural Digital Transformation</a:t>
            </a:r>
          </a:p>
          <a:p>
            <a:pPr algn="l" marL="755651" indent="-377825" lvl="1">
              <a:lnSpc>
                <a:spcPts val="8347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                                                                       </a:t>
            </a:r>
          </a:p>
          <a:p>
            <a:pPr algn="l" marL="755651" indent="-377825" lvl="1">
              <a:lnSpc>
                <a:spcPts val="8347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PAR5ZV</a:t>
            </a:r>
          </a:p>
          <a:p>
            <a:pPr algn="l" marL="755651" indent="-377825" lvl="1">
              <a:lnSpc>
                <a:spcPts val="8347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KrishiX</a:t>
            </a:r>
            <a:r>
              <a:rPr lang="en-US" sz="35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>
                <a:gradFill>
                  <a:gsLst>
                    <a:gs pos="15000">
                      <a:srgbClr val="C90003">
                        <a:alpha val="100000"/>
                      </a:srgbClr>
                    </a:gs>
                    <a:gs pos="50000">
                      <a:srgbClr val="185100">
                        <a:alpha val="100000"/>
                      </a:srgbClr>
                    </a:gs>
                    <a:gs pos="85000">
                      <a:srgbClr val="64AA38">
                        <a:alpha val="100000"/>
                      </a:srgbClr>
                    </a:gs>
                  </a:gsLst>
                  <a:lin ang="1890000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lang="en-US" sz="3500">
                <a:gradFill>
                  <a:gsLst>
                    <a:gs pos="0">
                      <a:srgbClr val="000000">
                        <a:alpha val="100000"/>
                      </a:srgbClr>
                    </a:gs>
                    <a:gs pos="100000">
                      <a:srgbClr val="3533CD">
                        <a:alpha val="100000"/>
                      </a:srgbClr>
                    </a:gs>
                  </a:gsLst>
                  <a:lin ang="0"/>
                </a:gradFill>
                <a:latin typeface="Times New Roman"/>
                <a:ea typeface="Times New Roman"/>
                <a:cs typeface="Times New Roman"/>
                <a:sym typeface="Times New Roman"/>
              </a:rPr>
              <a:t>                 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301765" y="49788"/>
            <a:ext cx="1884242" cy="1957843"/>
            <a:chOff x="0" y="0"/>
            <a:chExt cx="2059699" cy="21401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9686" cy="2140204"/>
            </a:xfrm>
            <a:custGeom>
              <a:avLst/>
              <a:gdLst/>
              <a:ahLst/>
              <a:cxnLst/>
              <a:rect r="r" b="b" t="t" l="l"/>
              <a:pathLst>
                <a:path h="2140204" w="2059686">
                  <a:moveTo>
                    <a:pt x="0" y="0"/>
                  </a:moveTo>
                  <a:lnTo>
                    <a:pt x="2059686" y="0"/>
                  </a:lnTo>
                  <a:lnTo>
                    <a:pt x="2059686" y="2140204"/>
                  </a:lnTo>
                  <a:lnTo>
                    <a:pt x="0" y="2140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86" t="0" r="-1920" b="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1166760" cy="1212335"/>
            <a:chOff x="0" y="0"/>
            <a:chExt cx="2059699" cy="21401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59686" cy="2140204"/>
            </a:xfrm>
            <a:custGeom>
              <a:avLst/>
              <a:gdLst/>
              <a:ahLst/>
              <a:cxnLst/>
              <a:rect r="r" b="b" t="t" l="l"/>
              <a:pathLst>
                <a:path h="2140204" w="2059686">
                  <a:moveTo>
                    <a:pt x="0" y="0"/>
                  </a:moveTo>
                  <a:lnTo>
                    <a:pt x="2059686" y="0"/>
                  </a:lnTo>
                  <a:lnTo>
                    <a:pt x="2059686" y="2140204"/>
                  </a:lnTo>
                  <a:lnTo>
                    <a:pt x="0" y="2140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86" t="0" r="-1920" b="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3679" y="0"/>
            <a:ext cx="1524884" cy="894608"/>
          </a:xfrm>
          <a:custGeom>
            <a:avLst/>
            <a:gdLst/>
            <a:ahLst/>
            <a:cxnLst/>
            <a:rect r="r" b="b" t="t" l="l"/>
            <a:pathLst>
              <a:path h="894608" w="1524884">
                <a:moveTo>
                  <a:pt x="0" y="0"/>
                </a:moveTo>
                <a:lnTo>
                  <a:pt x="1524884" y="0"/>
                </a:lnTo>
                <a:lnTo>
                  <a:pt x="1524884" y="894608"/>
                </a:lnTo>
                <a:lnTo>
                  <a:pt x="0" y="894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320" r="0" b="-40132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53679" y="1094633"/>
            <a:ext cx="8324009" cy="8362199"/>
            <a:chOff x="0" y="0"/>
            <a:chExt cx="2192332" cy="22023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2332" cy="2202390"/>
            </a:xfrm>
            <a:custGeom>
              <a:avLst/>
              <a:gdLst/>
              <a:ahLst/>
              <a:cxnLst/>
              <a:rect r="r" b="b" t="t" l="l"/>
              <a:pathLst>
                <a:path h="2202390" w="2192332">
                  <a:moveTo>
                    <a:pt x="47434" y="0"/>
                  </a:moveTo>
                  <a:lnTo>
                    <a:pt x="2144898" y="0"/>
                  </a:lnTo>
                  <a:cubicBezTo>
                    <a:pt x="2171095" y="0"/>
                    <a:pt x="2192332" y="21237"/>
                    <a:pt x="2192332" y="47434"/>
                  </a:cubicBezTo>
                  <a:lnTo>
                    <a:pt x="2192332" y="2154956"/>
                  </a:lnTo>
                  <a:cubicBezTo>
                    <a:pt x="2192332" y="2181153"/>
                    <a:pt x="2171095" y="2202390"/>
                    <a:pt x="2144898" y="2202390"/>
                  </a:cubicBezTo>
                  <a:lnTo>
                    <a:pt x="47434" y="2202390"/>
                  </a:lnTo>
                  <a:cubicBezTo>
                    <a:pt x="21237" y="2202390"/>
                    <a:pt x="0" y="2181153"/>
                    <a:pt x="0" y="2154956"/>
                  </a:cubicBezTo>
                  <a:lnTo>
                    <a:pt x="0" y="47434"/>
                  </a:lnTo>
                  <a:cubicBezTo>
                    <a:pt x="0" y="21237"/>
                    <a:pt x="21237" y="0"/>
                    <a:pt x="47434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192332" cy="22595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95577" y="1174481"/>
            <a:ext cx="4846016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548891" y="1094633"/>
            <a:ext cx="9620576" cy="5089330"/>
            <a:chOff x="0" y="0"/>
            <a:chExt cx="2533814" cy="1340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3814" cy="1340400"/>
            </a:xfrm>
            <a:custGeom>
              <a:avLst/>
              <a:gdLst/>
              <a:ahLst/>
              <a:cxnLst/>
              <a:rect r="r" b="b" t="t" l="l"/>
              <a:pathLst>
                <a:path h="1340400" w="2533814">
                  <a:moveTo>
                    <a:pt x="41041" y="0"/>
                  </a:moveTo>
                  <a:lnTo>
                    <a:pt x="2492773" y="0"/>
                  </a:lnTo>
                  <a:cubicBezTo>
                    <a:pt x="2503658" y="0"/>
                    <a:pt x="2514097" y="4324"/>
                    <a:pt x="2521794" y="12021"/>
                  </a:cubicBezTo>
                  <a:cubicBezTo>
                    <a:pt x="2529490" y="19717"/>
                    <a:pt x="2533814" y="30156"/>
                    <a:pt x="2533814" y="41041"/>
                  </a:cubicBezTo>
                  <a:lnTo>
                    <a:pt x="2533814" y="1299359"/>
                  </a:lnTo>
                  <a:cubicBezTo>
                    <a:pt x="2533814" y="1310244"/>
                    <a:pt x="2529490" y="1320682"/>
                    <a:pt x="2521794" y="1328379"/>
                  </a:cubicBezTo>
                  <a:cubicBezTo>
                    <a:pt x="2514097" y="1336076"/>
                    <a:pt x="2503658" y="1340400"/>
                    <a:pt x="2492773" y="1340400"/>
                  </a:cubicBezTo>
                  <a:lnTo>
                    <a:pt x="41041" y="1340400"/>
                  </a:lnTo>
                  <a:cubicBezTo>
                    <a:pt x="30156" y="1340400"/>
                    <a:pt x="19717" y="1336076"/>
                    <a:pt x="12021" y="1328379"/>
                  </a:cubicBezTo>
                  <a:cubicBezTo>
                    <a:pt x="4324" y="1320682"/>
                    <a:pt x="0" y="1310244"/>
                    <a:pt x="0" y="1299359"/>
                  </a:cubicBezTo>
                  <a:lnTo>
                    <a:pt x="0" y="41041"/>
                  </a:lnTo>
                  <a:cubicBezTo>
                    <a:pt x="0" y="30156"/>
                    <a:pt x="4324" y="19717"/>
                    <a:pt x="12021" y="12021"/>
                  </a:cubicBezTo>
                  <a:cubicBezTo>
                    <a:pt x="19717" y="4324"/>
                    <a:pt x="30156" y="0"/>
                    <a:pt x="41041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533814" cy="139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44809" y="1977594"/>
            <a:ext cx="7732830" cy="7353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Farm Operations Platform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connects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Farmers, Labourers, and Machinery Owners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a single digital ecosystem..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search, compare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instantly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book verified labour</a:t>
            </a:r>
          </a:p>
          <a:p>
            <a:pPr algn="l">
              <a:lnSpc>
                <a:spcPts val="2670"/>
              </a:lnSpc>
            </a:pPr>
            <a:r>
              <a:rPr lang="en-US" sz="1921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 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921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machinery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 real-time availability, pricing, and ratings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Farm Operations Planner generates a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crop-wise schedule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sends timely reminders for every farming activity.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Cooperative Booking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enables nearby farmers to share machinery, reducing transportation costs, fuel consumption, and waiting time.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Live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GPS tracking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OTP verification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secure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payments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Trust Score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transparency, safety, and reliability.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centralized dashboard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manage bookings, monitor resources, track earnings, and view analytics in one place.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helps ensure timely farm operations, better resource utilization, lower farming costs, and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increased productivity</a:t>
            </a:r>
            <a:r>
              <a:rPr lang="en-US" b="true" sz="192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also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promotes digital transformation in agriculture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simplifying resource management through a single, user-friendly application.</a:t>
            </a:r>
          </a:p>
          <a:p>
            <a:pPr algn="l" marL="414865" indent="-207432" lvl="1">
              <a:lnSpc>
                <a:spcPts val="2670"/>
              </a:lnSpc>
              <a:buFont typeface="Arial"/>
              <a:buChar char="•"/>
            </a:pP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</a:t>
            </a:r>
            <a:r>
              <a:rPr lang="en-US" b="true" sz="1921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strengthens collaboration between farmers, labourers, and machinery owners, </a:t>
            </a:r>
            <a:r>
              <a:rPr lang="en-US" sz="192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creating a more connected and efficient farming ecosystem.</a:t>
            </a:r>
          </a:p>
          <a:p>
            <a:pPr algn="l">
              <a:lnSpc>
                <a:spcPts val="2780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-5400000">
            <a:off x="11262030" y="7999679"/>
            <a:ext cx="345913" cy="476854"/>
            <a:chOff x="0" y="0"/>
            <a:chExt cx="657133" cy="9058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133" cy="905883"/>
            </a:xfrm>
            <a:custGeom>
              <a:avLst/>
              <a:gdLst/>
              <a:ahLst/>
              <a:cxnLst/>
              <a:rect r="r" b="b" t="t" l="l"/>
              <a:pathLst>
                <a:path h="905883" w="657133">
                  <a:moveTo>
                    <a:pt x="328566" y="905883"/>
                  </a:moveTo>
                  <a:lnTo>
                    <a:pt x="0" y="499483"/>
                  </a:lnTo>
                  <a:lnTo>
                    <a:pt x="203200" y="499483"/>
                  </a:lnTo>
                  <a:lnTo>
                    <a:pt x="203200" y="0"/>
                  </a:lnTo>
                  <a:lnTo>
                    <a:pt x="453933" y="0"/>
                  </a:lnTo>
                  <a:lnTo>
                    <a:pt x="453933" y="499483"/>
                  </a:lnTo>
                  <a:lnTo>
                    <a:pt x="657133" y="499483"/>
                  </a:lnTo>
                  <a:lnTo>
                    <a:pt x="328566" y="905883"/>
                  </a:lnTo>
                  <a:close/>
                </a:path>
              </a:pathLst>
            </a:custGeom>
            <a:solidFill>
              <a:srgbClr val="309553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203200" y="-57150"/>
              <a:ext cx="250733" cy="86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357609" y="6269688"/>
            <a:ext cx="1179530" cy="488923"/>
            <a:chOff x="0" y="0"/>
            <a:chExt cx="310658" cy="1287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0658" cy="128770"/>
            </a:xfrm>
            <a:custGeom>
              <a:avLst/>
              <a:gdLst/>
              <a:ahLst/>
              <a:cxnLst/>
              <a:rect r="r" b="b" t="t" l="l"/>
              <a:pathLst>
                <a:path h="128770" w="310658">
                  <a:moveTo>
                    <a:pt x="0" y="0"/>
                  </a:moveTo>
                  <a:lnTo>
                    <a:pt x="310658" y="0"/>
                  </a:lnTo>
                  <a:lnTo>
                    <a:pt x="310658" y="128770"/>
                  </a:lnTo>
                  <a:lnTo>
                    <a:pt x="0" y="128770"/>
                  </a:lnTo>
                  <a:close/>
                </a:path>
              </a:pathLst>
            </a:custGeom>
            <a:solidFill>
              <a:srgbClr val="FFD9C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10658" cy="176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b="true" sz="1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input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9966424" y="6801561"/>
            <a:ext cx="0" cy="24868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8698189" y="7060764"/>
            <a:ext cx="2498370" cy="479398"/>
            <a:chOff x="0" y="0"/>
            <a:chExt cx="658007" cy="1262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007" cy="126261"/>
            </a:xfrm>
            <a:custGeom>
              <a:avLst/>
              <a:gdLst/>
              <a:ahLst/>
              <a:cxnLst/>
              <a:rect r="r" b="b" t="t" l="l"/>
              <a:pathLst>
                <a:path h="126261" w="658007">
                  <a:moveTo>
                    <a:pt x="0" y="0"/>
                  </a:moveTo>
                  <a:lnTo>
                    <a:pt x="658007" y="0"/>
                  </a:lnTo>
                  <a:lnTo>
                    <a:pt x="658007" y="126261"/>
                  </a:lnTo>
                  <a:lnTo>
                    <a:pt x="0" y="126261"/>
                  </a:ln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58007" cy="173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farmer Requirement</a:t>
              </a:r>
              <a:r>
                <a:rPr lang="en-US" b="true" sz="1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688664" y="7697590"/>
            <a:ext cx="2507895" cy="479398"/>
            <a:chOff x="0" y="0"/>
            <a:chExt cx="660516" cy="12626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516" cy="126261"/>
            </a:xfrm>
            <a:custGeom>
              <a:avLst/>
              <a:gdLst/>
              <a:ahLst/>
              <a:cxnLst/>
              <a:rect r="r" b="b" t="t" l="l"/>
              <a:pathLst>
                <a:path h="126261" w="660516">
                  <a:moveTo>
                    <a:pt x="0" y="0"/>
                  </a:moveTo>
                  <a:lnTo>
                    <a:pt x="660516" y="0"/>
                  </a:lnTo>
                  <a:lnTo>
                    <a:pt x="660516" y="126261"/>
                  </a:lnTo>
                  <a:lnTo>
                    <a:pt x="0" y="126261"/>
                  </a:ln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60516" cy="1738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b="true" sz="1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</a:t>
              </a: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abour &amp; Machinery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8688664" y="8952931"/>
            <a:ext cx="2507895" cy="475218"/>
            <a:chOff x="0" y="0"/>
            <a:chExt cx="660516" cy="125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0516" cy="125160"/>
            </a:xfrm>
            <a:custGeom>
              <a:avLst/>
              <a:gdLst/>
              <a:ahLst/>
              <a:cxnLst/>
              <a:rect r="r" b="b" t="t" l="l"/>
              <a:pathLst>
                <a:path h="125160" w="660516">
                  <a:moveTo>
                    <a:pt x="0" y="0"/>
                  </a:moveTo>
                  <a:lnTo>
                    <a:pt x="660516" y="0"/>
                  </a:lnTo>
                  <a:lnTo>
                    <a:pt x="660516" y="125160"/>
                  </a:lnTo>
                  <a:lnTo>
                    <a:pt x="0" y="125160"/>
                  </a:ln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60516" cy="172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Marhet Price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8741893" y="1391441"/>
            <a:ext cx="9009878" cy="454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2"/>
              </a:lnSpc>
            </a:pP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a</a:t>
            </a:r>
            <a:r>
              <a:rPr lang="en-US" sz="1859">
                <a:solidFill>
                  <a:srgbClr val="3095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personalized crop-wise farming schedule</a:t>
            </a:r>
            <a:r>
              <a:rPr lang="en-US" b="true" sz="1859">
                <a:solidFill>
                  <a:srgbClr val="457A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timely reminders.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Instantly matches verified labour and machinery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based on real-time availability, pricing, and ratings.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Enables</a:t>
            </a:r>
            <a:r>
              <a:rPr lang="en-US" b="true" sz="185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nearby farmers to share machinery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reducing transportation costs and increasing utilization.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OTP verification, Smart Trust Score, &amp; secure digital payments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ensure transparency &amp; reliability.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sz="1859">
                <a:solidFill>
                  <a:srgbClr val="39C0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Manage bookings, live tracking, earnings, analytics,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resources from a</a:t>
            </a:r>
            <a:r>
              <a:rPr lang="en-US" b="true" sz="185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single platform.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Multilingual Support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better accessibility.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Real-Time Notifications &amp; Reminders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timely farm operations.</a:t>
            </a:r>
          </a:p>
          <a:p>
            <a:pPr algn="l" marL="401419" indent="-200709" lvl="1">
              <a:lnSpc>
                <a:spcPts val="2602"/>
              </a:lnSpc>
              <a:buFont typeface="Arial"/>
              <a:buChar char="•"/>
            </a:pPr>
            <a:r>
              <a:rPr lang="en-US" b="true" sz="185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185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Scalable &amp; Future-Ready Platform with</a:t>
            </a:r>
            <a:r>
              <a:rPr lang="en-US" b="true" sz="1859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support for weather, crop advisory, and government services.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669614" y="8334415"/>
            <a:ext cx="2507895" cy="475166"/>
            <a:chOff x="0" y="0"/>
            <a:chExt cx="660516" cy="12514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0516" cy="125147"/>
            </a:xfrm>
            <a:custGeom>
              <a:avLst/>
              <a:gdLst/>
              <a:ahLst/>
              <a:cxnLst/>
              <a:rect r="r" b="b" t="t" l="l"/>
              <a:pathLst>
                <a:path h="125147" w="660516">
                  <a:moveTo>
                    <a:pt x="0" y="0"/>
                  </a:moveTo>
                  <a:lnTo>
                    <a:pt x="660516" y="0"/>
                  </a:lnTo>
                  <a:lnTo>
                    <a:pt x="660516" y="125147"/>
                  </a:lnTo>
                  <a:lnTo>
                    <a:pt x="0" y="125147"/>
                  </a:ln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60516" cy="17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Weather &amp; soil info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flipV="true">
            <a:off x="13118626" y="6693854"/>
            <a:ext cx="0" cy="24868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2500511" y="6269688"/>
            <a:ext cx="1131418" cy="488923"/>
            <a:chOff x="0" y="0"/>
            <a:chExt cx="297987" cy="12877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7987" cy="128770"/>
            </a:xfrm>
            <a:custGeom>
              <a:avLst/>
              <a:gdLst/>
              <a:ahLst/>
              <a:cxnLst/>
              <a:rect r="r" b="b" t="t" l="l"/>
              <a:pathLst>
                <a:path h="128770" w="297987">
                  <a:moveTo>
                    <a:pt x="0" y="0"/>
                  </a:moveTo>
                  <a:lnTo>
                    <a:pt x="297987" y="0"/>
                  </a:lnTo>
                  <a:lnTo>
                    <a:pt x="297987" y="128770"/>
                  </a:lnTo>
                  <a:lnTo>
                    <a:pt x="0" y="128770"/>
                  </a:lnTo>
                  <a:close/>
                </a:path>
              </a:pathLst>
            </a:custGeom>
            <a:solidFill>
              <a:srgbClr val="FFD9C2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97987" cy="1763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b="true" sz="1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Process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7246356" y="9639081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1692463" y="7714764"/>
            <a:ext cx="2890426" cy="479449"/>
            <a:chOff x="0" y="0"/>
            <a:chExt cx="761265" cy="12627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1265" cy="126275"/>
            </a:xfrm>
            <a:custGeom>
              <a:avLst/>
              <a:gdLst/>
              <a:ahLst/>
              <a:cxnLst/>
              <a:rect r="r" b="b" t="t" l="l"/>
              <a:pathLst>
                <a:path h="126275" w="761265">
                  <a:moveTo>
                    <a:pt x="0" y="0"/>
                  </a:moveTo>
                  <a:lnTo>
                    <a:pt x="761265" y="0"/>
                  </a:lnTo>
                  <a:lnTo>
                    <a:pt x="761265" y="126275"/>
                  </a:lnTo>
                  <a:lnTo>
                    <a:pt x="0" y="126275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61265" cy="17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Matching 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678413" y="7060764"/>
            <a:ext cx="2890426" cy="475166"/>
            <a:chOff x="0" y="0"/>
            <a:chExt cx="761265" cy="12514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1265" cy="125147"/>
            </a:xfrm>
            <a:custGeom>
              <a:avLst/>
              <a:gdLst/>
              <a:ahLst/>
              <a:cxnLst/>
              <a:rect r="r" b="b" t="t" l="l"/>
              <a:pathLst>
                <a:path h="125147" w="761265">
                  <a:moveTo>
                    <a:pt x="0" y="0"/>
                  </a:moveTo>
                  <a:lnTo>
                    <a:pt x="761265" y="0"/>
                  </a:lnTo>
                  <a:lnTo>
                    <a:pt x="761265" y="125147"/>
                  </a:lnTo>
                  <a:lnTo>
                    <a:pt x="0" y="125147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761265" cy="17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AI-analysis &amp; planning 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692463" y="8345542"/>
            <a:ext cx="2890426" cy="475166"/>
            <a:chOff x="0" y="0"/>
            <a:chExt cx="761265" cy="12514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1265" cy="125147"/>
            </a:xfrm>
            <a:custGeom>
              <a:avLst/>
              <a:gdLst/>
              <a:ahLst/>
              <a:cxnLst/>
              <a:rect r="r" b="b" t="t" l="l"/>
              <a:pathLst>
                <a:path h="125147" w="761265">
                  <a:moveTo>
                    <a:pt x="0" y="0"/>
                  </a:moveTo>
                  <a:lnTo>
                    <a:pt x="761265" y="0"/>
                  </a:lnTo>
                  <a:lnTo>
                    <a:pt x="761265" y="125147"/>
                  </a:lnTo>
                  <a:lnTo>
                    <a:pt x="0" y="125147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61265" cy="17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Cooperative Optimization 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1621007" y="8972038"/>
            <a:ext cx="2890426" cy="494445"/>
            <a:chOff x="0" y="0"/>
            <a:chExt cx="761265" cy="13022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1265" cy="130224"/>
            </a:xfrm>
            <a:custGeom>
              <a:avLst/>
              <a:gdLst/>
              <a:ahLst/>
              <a:cxnLst/>
              <a:rect r="r" b="b" t="t" l="l"/>
              <a:pathLst>
                <a:path h="130224" w="761265">
                  <a:moveTo>
                    <a:pt x="0" y="0"/>
                  </a:moveTo>
                  <a:lnTo>
                    <a:pt x="761265" y="0"/>
                  </a:lnTo>
                  <a:lnTo>
                    <a:pt x="761265" y="130224"/>
                  </a:lnTo>
                  <a:lnTo>
                    <a:pt x="0" y="130224"/>
                  </a:ln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761265" cy="1778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Secure booking &amp; Payment 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flipV="true">
            <a:off x="16567729" y="6514149"/>
            <a:ext cx="0" cy="24868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15004090" y="7075583"/>
            <a:ext cx="3165377" cy="482044"/>
            <a:chOff x="0" y="0"/>
            <a:chExt cx="833680" cy="12695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33680" cy="126958"/>
            </a:xfrm>
            <a:custGeom>
              <a:avLst/>
              <a:gdLst/>
              <a:ahLst/>
              <a:cxnLst/>
              <a:rect r="r" b="b" t="t" l="l"/>
              <a:pathLst>
                <a:path h="126958" w="833680">
                  <a:moveTo>
                    <a:pt x="0" y="0"/>
                  </a:moveTo>
                  <a:lnTo>
                    <a:pt x="833680" y="0"/>
                  </a:lnTo>
                  <a:lnTo>
                    <a:pt x="833680" y="126958"/>
                  </a:lnTo>
                  <a:lnTo>
                    <a:pt x="0" y="126958"/>
                  </a:lnTo>
                  <a:close/>
                </a:path>
              </a:pathLst>
            </a:custGeom>
            <a:solidFill>
              <a:srgbClr val="C7EBB7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833680" cy="17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farm operation schedule 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5025565" y="7745480"/>
            <a:ext cx="3165377" cy="475166"/>
            <a:chOff x="0" y="0"/>
            <a:chExt cx="833680" cy="12514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33680" cy="125147"/>
            </a:xfrm>
            <a:custGeom>
              <a:avLst/>
              <a:gdLst/>
              <a:ahLst/>
              <a:cxnLst/>
              <a:rect r="r" b="b" t="t" l="l"/>
              <a:pathLst>
                <a:path h="125147" w="833680">
                  <a:moveTo>
                    <a:pt x="0" y="0"/>
                  </a:moveTo>
                  <a:lnTo>
                    <a:pt x="833680" y="0"/>
                  </a:lnTo>
                  <a:lnTo>
                    <a:pt x="833680" y="125147"/>
                  </a:lnTo>
                  <a:lnTo>
                    <a:pt x="0" y="125147"/>
                  </a:lnTo>
                  <a:close/>
                </a:path>
              </a:pathLst>
            </a:custGeom>
            <a:solidFill>
              <a:srgbClr val="C7EBB7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833680" cy="17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Labour &amp; Machinery booking 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5004090" y="8373046"/>
            <a:ext cx="3165377" cy="475166"/>
            <a:chOff x="0" y="0"/>
            <a:chExt cx="833680" cy="12514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33680" cy="125147"/>
            </a:xfrm>
            <a:custGeom>
              <a:avLst/>
              <a:gdLst/>
              <a:ahLst/>
              <a:cxnLst/>
              <a:rect r="r" b="b" t="t" l="l"/>
              <a:pathLst>
                <a:path h="125147" w="833680">
                  <a:moveTo>
                    <a:pt x="0" y="0"/>
                  </a:moveTo>
                  <a:lnTo>
                    <a:pt x="833680" y="0"/>
                  </a:lnTo>
                  <a:lnTo>
                    <a:pt x="833680" y="125147"/>
                  </a:lnTo>
                  <a:lnTo>
                    <a:pt x="0" y="125147"/>
                  </a:lnTo>
                  <a:close/>
                </a:path>
              </a:pathLst>
            </a:custGeom>
            <a:solidFill>
              <a:srgbClr val="C7EBB7"/>
            </a:solid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833680" cy="17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Tracking &amp; Updates</a:t>
              </a:r>
              <a:r>
                <a:rPr lang="en-US" b="true" sz="1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5004090" y="9000613"/>
            <a:ext cx="3165377" cy="475166"/>
            <a:chOff x="0" y="0"/>
            <a:chExt cx="508398" cy="7631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8398" cy="76318"/>
            </a:xfrm>
            <a:custGeom>
              <a:avLst/>
              <a:gdLst/>
              <a:ahLst/>
              <a:cxnLst/>
              <a:rect r="r" b="b" t="t" l="l"/>
              <a:pathLst>
                <a:path h="76318" w="508398">
                  <a:moveTo>
                    <a:pt x="0" y="0"/>
                  </a:moveTo>
                  <a:lnTo>
                    <a:pt x="508398" y="0"/>
                  </a:lnTo>
                  <a:lnTo>
                    <a:pt x="508398" y="76318"/>
                  </a:lnTo>
                  <a:lnTo>
                    <a:pt x="0" y="76318"/>
                  </a:lnTo>
                  <a:close/>
                </a:path>
              </a:pathLst>
            </a:custGeom>
            <a:solidFill>
              <a:srgbClr val="C7EBB7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508398" cy="123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Saving &amp; Productivity 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-5400000">
            <a:off x="14646660" y="7988112"/>
            <a:ext cx="300546" cy="414314"/>
            <a:chOff x="0" y="0"/>
            <a:chExt cx="657133" cy="90588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57133" cy="905883"/>
            </a:xfrm>
            <a:custGeom>
              <a:avLst/>
              <a:gdLst/>
              <a:ahLst/>
              <a:cxnLst/>
              <a:rect r="r" b="b" t="t" l="l"/>
              <a:pathLst>
                <a:path h="905883" w="657133">
                  <a:moveTo>
                    <a:pt x="328566" y="905883"/>
                  </a:moveTo>
                  <a:lnTo>
                    <a:pt x="0" y="499483"/>
                  </a:lnTo>
                  <a:lnTo>
                    <a:pt x="203200" y="499483"/>
                  </a:lnTo>
                  <a:lnTo>
                    <a:pt x="203200" y="0"/>
                  </a:lnTo>
                  <a:lnTo>
                    <a:pt x="453933" y="0"/>
                  </a:lnTo>
                  <a:lnTo>
                    <a:pt x="453933" y="499483"/>
                  </a:lnTo>
                  <a:lnTo>
                    <a:pt x="657133" y="499483"/>
                  </a:lnTo>
                  <a:lnTo>
                    <a:pt x="328566" y="905883"/>
                  </a:lnTo>
                  <a:close/>
                </a:path>
              </a:pathLst>
            </a:custGeom>
            <a:solidFill>
              <a:srgbClr val="309553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203200" y="-57150"/>
              <a:ext cx="250733" cy="861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5976032" y="6269688"/>
            <a:ext cx="1221492" cy="475166"/>
            <a:chOff x="0" y="0"/>
            <a:chExt cx="321710" cy="12514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21710" cy="125147"/>
            </a:xfrm>
            <a:custGeom>
              <a:avLst/>
              <a:gdLst/>
              <a:ahLst/>
              <a:cxnLst/>
              <a:rect r="r" b="b" t="t" l="l"/>
              <a:pathLst>
                <a:path h="125147" w="321710">
                  <a:moveTo>
                    <a:pt x="0" y="0"/>
                  </a:moveTo>
                  <a:lnTo>
                    <a:pt x="321710" y="0"/>
                  </a:lnTo>
                  <a:lnTo>
                    <a:pt x="321710" y="125147"/>
                  </a:lnTo>
                  <a:lnTo>
                    <a:pt x="0" y="125147"/>
                  </a:lnTo>
                  <a:close/>
                </a:path>
              </a:pathLst>
            </a:custGeom>
            <a:solidFill>
              <a:srgbClr val="FFD9C2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321710" cy="1727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  <a:r>
                <a:rPr lang="en-US" b="true" sz="19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OUTPUT </a:t>
              </a:r>
            </a:p>
          </p:txBody>
        </p:sp>
      </p:grpSp>
      <p:sp>
        <p:nvSpPr>
          <p:cNvPr name="Freeform 69" id="69"/>
          <p:cNvSpPr/>
          <p:nvPr/>
        </p:nvSpPr>
        <p:spPr>
          <a:xfrm flipH="false" flipV="false" rot="0">
            <a:off x="0" y="9531096"/>
            <a:ext cx="18288000" cy="755904"/>
          </a:xfrm>
          <a:custGeom>
            <a:avLst/>
            <a:gdLst/>
            <a:ahLst/>
            <a:cxnLst/>
            <a:rect r="r" b="b" t="t" l="l"/>
            <a:pathLst>
              <a:path h="755904" w="18288000">
                <a:moveTo>
                  <a:pt x="0" y="0"/>
                </a:moveTo>
                <a:lnTo>
                  <a:pt x="18288000" y="0"/>
                </a:lnTo>
                <a:lnTo>
                  <a:pt x="18288000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5220657" y="60218"/>
            <a:ext cx="7042472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IDEA TITLE 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732368" y="5151564"/>
            <a:ext cx="9525" cy="415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  <a:spcBef>
                <a:spcPct val="0"/>
              </a:spcBef>
            </a:pPr>
          </a:p>
        </p:txBody>
      </p:sp>
      <p:sp>
        <p:nvSpPr>
          <p:cNvPr name="TextBox 72" id="72"/>
          <p:cNvSpPr txBox="true"/>
          <p:nvPr/>
        </p:nvSpPr>
        <p:spPr>
          <a:xfrm rot="0">
            <a:off x="7704939" y="9599550"/>
            <a:ext cx="2878122" cy="60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 skh.sanjivaniuniversity.co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058016" y="1136278"/>
            <a:ext cx="2131219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USP's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5692970" y="1611093"/>
            <a:ext cx="7329278" cy="7329278"/>
            <a:chOff x="0" y="0"/>
            <a:chExt cx="9772371" cy="97723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0" y="0"/>
                  </a:moveTo>
                  <a:lnTo>
                    <a:pt x="9772396" y="0"/>
                  </a:lnTo>
                  <a:lnTo>
                    <a:pt x="9772396" y="9772396"/>
                  </a:lnTo>
                  <a:lnTo>
                    <a:pt x="0" y="977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8850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60176" y="1347721"/>
            <a:ext cx="3762375" cy="8119435"/>
            <a:chOff x="0" y="0"/>
            <a:chExt cx="990914" cy="21384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90914" cy="2138452"/>
            </a:xfrm>
            <a:custGeom>
              <a:avLst/>
              <a:gdLst/>
              <a:ahLst/>
              <a:cxnLst/>
              <a:rect r="r" b="b" t="t" l="l"/>
              <a:pathLst>
                <a:path h="2138452" w="990914">
                  <a:moveTo>
                    <a:pt x="0" y="0"/>
                  </a:moveTo>
                  <a:lnTo>
                    <a:pt x="990914" y="0"/>
                  </a:lnTo>
                  <a:lnTo>
                    <a:pt x="990914" y="2138452"/>
                  </a:lnTo>
                  <a:lnTo>
                    <a:pt x="0" y="2138452"/>
                  </a:ln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990914" cy="21860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993899" y="16564"/>
            <a:ext cx="1284566" cy="1334751"/>
            <a:chOff x="0" y="0"/>
            <a:chExt cx="2059686" cy="21401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59686" cy="2140204"/>
            </a:xfrm>
            <a:custGeom>
              <a:avLst/>
              <a:gdLst/>
              <a:ahLst/>
              <a:cxnLst/>
              <a:rect r="r" b="b" t="t" l="l"/>
              <a:pathLst>
                <a:path h="2140204" w="2059686">
                  <a:moveTo>
                    <a:pt x="0" y="0"/>
                  </a:moveTo>
                  <a:lnTo>
                    <a:pt x="2059686" y="0"/>
                  </a:lnTo>
                  <a:lnTo>
                    <a:pt x="2059686" y="2140204"/>
                  </a:lnTo>
                  <a:lnTo>
                    <a:pt x="0" y="2140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986" t="0" r="-1920" b="2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46356" y="9668389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908895" y="1413405"/>
            <a:ext cx="3677261" cy="612496"/>
            <a:chOff x="0" y="0"/>
            <a:chExt cx="968497" cy="1613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8497" cy="161316"/>
            </a:xfrm>
            <a:custGeom>
              <a:avLst/>
              <a:gdLst/>
              <a:ahLst/>
              <a:cxnLst/>
              <a:rect r="r" b="b" t="t" l="l"/>
              <a:pathLst>
                <a:path h="161316" w="968497">
                  <a:moveTo>
                    <a:pt x="0" y="0"/>
                  </a:moveTo>
                  <a:lnTo>
                    <a:pt x="968497" y="0"/>
                  </a:lnTo>
                  <a:lnTo>
                    <a:pt x="968497" y="161316"/>
                  </a:lnTo>
                  <a:lnTo>
                    <a:pt x="0" y="161316"/>
                  </a:lnTo>
                  <a:close/>
                </a:path>
              </a:pathLst>
            </a:custGeom>
            <a:solidFill>
              <a:srgbClr val="C0F0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68497" cy="208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85062" y="23839"/>
            <a:ext cx="1550862" cy="909848"/>
          </a:xfrm>
          <a:custGeom>
            <a:avLst/>
            <a:gdLst/>
            <a:ahLst/>
            <a:cxnLst/>
            <a:rect r="r" b="b" t="t" l="l"/>
            <a:pathLst>
              <a:path h="909848" w="1550862">
                <a:moveTo>
                  <a:pt x="0" y="0"/>
                </a:moveTo>
                <a:lnTo>
                  <a:pt x="1550862" y="0"/>
                </a:lnTo>
                <a:lnTo>
                  <a:pt x="1550862" y="909849"/>
                </a:lnTo>
                <a:lnTo>
                  <a:pt x="0" y="9098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320" r="0" b="-4013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948103" y="2537368"/>
            <a:ext cx="914134" cy="1082350"/>
          </a:xfrm>
          <a:custGeom>
            <a:avLst/>
            <a:gdLst/>
            <a:ahLst/>
            <a:cxnLst/>
            <a:rect r="r" b="b" t="t" l="l"/>
            <a:pathLst>
              <a:path h="1082350" w="914134">
                <a:moveTo>
                  <a:pt x="0" y="0"/>
                </a:moveTo>
                <a:lnTo>
                  <a:pt x="914134" y="0"/>
                </a:lnTo>
                <a:lnTo>
                  <a:pt x="914134" y="1082350"/>
                </a:lnTo>
                <a:lnTo>
                  <a:pt x="0" y="1082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0695" r="-190313" b="-12693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377729" y="2543988"/>
            <a:ext cx="793051" cy="1075730"/>
          </a:xfrm>
          <a:custGeom>
            <a:avLst/>
            <a:gdLst/>
            <a:ahLst/>
            <a:cxnLst/>
            <a:rect r="r" b="b" t="t" l="l"/>
            <a:pathLst>
              <a:path h="1075730" w="793051">
                <a:moveTo>
                  <a:pt x="0" y="0"/>
                </a:moveTo>
                <a:lnTo>
                  <a:pt x="793050" y="0"/>
                </a:lnTo>
                <a:lnTo>
                  <a:pt x="793050" y="1075730"/>
                </a:lnTo>
                <a:lnTo>
                  <a:pt x="0" y="1075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9372" t="-18697" r="-106750" b="-12411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687591" y="2626076"/>
            <a:ext cx="818493" cy="922703"/>
          </a:xfrm>
          <a:custGeom>
            <a:avLst/>
            <a:gdLst/>
            <a:ahLst/>
            <a:cxnLst/>
            <a:rect r="r" b="b" t="t" l="l"/>
            <a:pathLst>
              <a:path h="922703" w="818493">
                <a:moveTo>
                  <a:pt x="0" y="0"/>
                </a:moveTo>
                <a:lnTo>
                  <a:pt x="818492" y="0"/>
                </a:lnTo>
                <a:lnTo>
                  <a:pt x="818492" y="922703"/>
                </a:lnTo>
                <a:lnTo>
                  <a:pt x="0" y="9227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15685" t="-35443" r="0" b="-147368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801808" y="8440062"/>
            <a:ext cx="1875326" cy="984230"/>
            <a:chOff x="0" y="0"/>
            <a:chExt cx="2500435" cy="13123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3447" cy="1312307"/>
            </a:xfrm>
            <a:custGeom>
              <a:avLst/>
              <a:gdLst/>
              <a:ahLst/>
              <a:cxnLst/>
              <a:rect r="r" b="b" t="t" l="l"/>
              <a:pathLst>
                <a:path h="1312307" w="1093447">
                  <a:moveTo>
                    <a:pt x="0" y="0"/>
                  </a:moveTo>
                  <a:lnTo>
                    <a:pt x="1093447" y="0"/>
                  </a:lnTo>
                  <a:lnTo>
                    <a:pt x="1093447" y="1312307"/>
                  </a:lnTo>
                  <a:lnTo>
                    <a:pt x="0" y="13123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20984" r="-188645" b="-2191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504773" y="57151"/>
              <a:ext cx="995662" cy="1183258"/>
            </a:xfrm>
            <a:custGeom>
              <a:avLst/>
              <a:gdLst/>
              <a:ahLst/>
              <a:cxnLst/>
              <a:rect r="r" b="b" t="t" l="l"/>
              <a:pathLst>
                <a:path h="1183258" w="995662">
                  <a:moveTo>
                    <a:pt x="0" y="0"/>
                  </a:moveTo>
                  <a:lnTo>
                    <a:pt x="995662" y="0"/>
                  </a:lnTo>
                  <a:lnTo>
                    <a:pt x="995662" y="1183259"/>
                  </a:lnTo>
                  <a:lnTo>
                    <a:pt x="0" y="1183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1525" t="-134179" r="-105468" b="-35206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4557368" y="4159329"/>
            <a:ext cx="820361" cy="1085966"/>
          </a:xfrm>
          <a:custGeom>
            <a:avLst/>
            <a:gdLst/>
            <a:ahLst/>
            <a:cxnLst/>
            <a:rect r="r" b="b" t="t" l="l"/>
            <a:pathLst>
              <a:path h="1085966" w="820361">
                <a:moveTo>
                  <a:pt x="0" y="0"/>
                </a:moveTo>
                <a:lnTo>
                  <a:pt x="820361" y="0"/>
                </a:lnTo>
                <a:lnTo>
                  <a:pt x="820361" y="1085966"/>
                </a:lnTo>
                <a:lnTo>
                  <a:pt x="0" y="10859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940" r="-21133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915551" y="4138134"/>
            <a:ext cx="818150" cy="1146481"/>
          </a:xfrm>
          <a:custGeom>
            <a:avLst/>
            <a:gdLst/>
            <a:ahLst/>
            <a:cxnLst/>
            <a:rect r="r" b="b" t="t" l="l"/>
            <a:pathLst>
              <a:path h="1146481" w="818150">
                <a:moveTo>
                  <a:pt x="0" y="0"/>
                </a:moveTo>
                <a:lnTo>
                  <a:pt x="818150" y="0"/>
                </a:lnTo>
                <a:lnTo>
                  <a:pt x="818150" y="1146481"/>
                </a:lnTo>
                <a:lnTo>
                  <a:pt x="0" y="1146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00686" t="-152" r="0" b="-15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-9535" y="9531096"/>
            <a:ext cx="18288000" cy="755904"/>
          </a:xfrm>
          <a:custGeom>
            <a:avLst/>
            <a:gdLst/>
            <a:ahLst/>
            <a:cxnLst/>
            <a:rect r="r" b="b" t="t" l="l"/>
            <a:pathLst>
              <a:path h="755904" w="18288000">
                <a:moveTo>
                  <a:pt x="0" y="0"/>
                </a:moveTo>
                <a:lnTo>
                  <a:pt x="18288000" y="0"/>
                </a:lnTo>
                <a:lnTo>
                  <a:pt x="18288000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V="true">
            <a:off x="4810430" y="3542558"/>
            <a:ext cx="0" cy="3312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7972720" y="3506659"/>
            <a:ext cx="0" cy="3312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2472606" y="4711374"/>
            <a:ext cx="9134466" cy="1237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>
            <a:off x="7373425" y="5602575"/>
            <a:ext cx="0" cy="215166"/>
          </a:xfrm>
          <a:custGeom>
            <a:avLst/>
            <a:gdLst/>
            <a:ahLst/>
            <a:cxnLst/>
            <a:rect r="r" b="b" t="t" l="l"/>
            <a:pathLst>
              <a:path h="215166" w="0">
                <a:moveTo>
                  <a:pt x="0" y="215166"/>
                </a:move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>
            <a:off x="7373425" y="5602575"/>
            <a:ext cx="0" cy="215166"/>
          </a:xfrm>
          <a:custGeom>
            <a:avLst/>
            <a:gdLst/>
            <a:ahLst/>
            <a:cxnLst/>
            <a:rect r="r" b="b" t="t" l="l"/>
            <a:pathLst>
              <a:path h="215166" w="0">
                <a:moveTo>
                  <a:pt x="0" y="215166"/>
                </a:move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>
            <a:off x="10949935" y="7109916"/>
            <a:ext cx="6035" cy="756641"/>
          </a:xfrm>
          <a:custGeom>
            <a:avLst/>
            <a:gdLst/>
            <a:ahLst/>
            <a:cxnLst/>
            <a:rect r="r" b="b" t="t" l="l"/>
            <a:pathLst>
              <a:path h="756641" w="6035">
                <a:moveTo>
                  <a:pt x="0" y="756641"/>
                </a:moveTo>
                <a:lnTo>
                  <a:pt x="0" y="381338"/>
                </a:lnTo>
                <a:cubicBezTo>
                  <a:pt x="0" y="380538"/>
                  <a:pt x="318" y="379770"/>
                  <a:pt x="883" y="379204"/>
                </a:cubicBezTo>
                <a:cubicBezTo>
                  <a:pt x="1449" y="378639"/>
                  <a:pt x="2217" y="378321"/>
                  <a:pt x="3017" y="378321"/>
                </a:cubicBezTo>
                <a:lnTo>
                  <a:pt x="3017" y="378321"/>
                </a:lnTo>
                <a:cubicBezTo>
                  <a:pt x="3817" y="378321"/>
                  <a:pt x="4585" y="378003"/>
                  <a:pt x="5151" y="377437"/>
                </a:cubicBezTo>
                <a:cubicBezTo>
                  <a:pt x="5717" y="376871"/>
                  <a:pt x="6035" y="376104"/>
                  <a:pt x="6035" y="375303"/>
                </a:cubicBezTo>
                <a:lnTo>
                  <a:pt x="603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5535611" y="1271169"/>
            <a:ext cx="7329278" cy="7329278"/>
            <a:chOff x="0" y="0"/>
            <a:chExt cx="9772371" cy="97723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342900" y="0"/>
                  </a:moveTo>
                  <a:lnTo>
                    <a:pt x="9429496" y="0"/>
                  </a:lnTo>
                  <a:cubicBezTo>
                    <a:pt x="9520438" y="0"/>
                    <a:pt x="9607656" y="36127"/>
                    <a:pt x="9671962" y="100433"/>
                  </a:cubicBezTo>
                  <a:cubicBezTo>
                    <a:pt x="9736269" y="164739"/>
                    <a:pt x="9772396" y="251957"/>
                    <a:pt x="9772396" y="342900"/>
                  </a:cubicBezTo>
                  <a:lnTo>
                    <a:pt x="9772396" y="9429496"/>
                  </a:lnTo>
                  <a:cubicBezTo>
                    <a:pt x="9772396" y="9618874"/>
                    <a:pt x="9618874" y="9772396"/>
                    <a:pt x="9429496" y="9772396"/>
                  </a:cubicBezTo>
                  <a:lnTo>
                    <a:pt x="342900" y="9772396"/>
                  </a:lnTo>
                  <a:cubicBezTo>
                    <a:pt x="153522" y="9772396"/>
                    <a:pt x="0" y="9618874"/>
                    <a:pt x="0" y="9429496"/>
                  </a:cubicBez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close/>
                </a:path>
              </a:pathLst>
            </a:custGeom>
            <a:blipFill>
              <a:blip r:embed="rId8">
                <a:alphaModFix amt="8850"/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628498" y="933688"/>
            <a:ext cx="4820881" cy="676428"/>
            <a:chOff x="0" y="0"/>
            <a:chExt cx="1269697" cy="1781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9697" cy="178154"/>
            </a:xfrm>
            <a:custGeom>
              <a:avLst/>
              <a:gdLst/>
              <a:ahLst/>
              <a:cxnLst/>
              <a:rect r="r" b="b" t="t" l="l"/>
              <a:pathLst>
                <a:path h="178154" w="1269697">
                  <a:moveTo>
                    <a:pt x="6424" y="0"/>
                  </a:moveTo>
                  <a:lnTo>
                    <a:pt x="1263273" y="0"/>
                  </a:lnTo>
                  <a:cubicBezTo>
                    <a:pt x="1266821" y="0"/>
                    <a:pt x="1269697" y="2876"/>
                    <a:pt x="1269697" y="6424"/>
                  </a:cubicBezTo>
                  <a:lnTo>
                    <a:pt x="1269697" y="171730"/>
                  </a:lnTo>
                  <a:cubicBezTo>
                    <a:pt x="1269697" y="175278"/>
                    <a:pt x="1266821" y="178154"/>
                    <a:pt x="1263273" y="178154"/>
                  </a:cubicBezTo>
                  <a:lnTo>
                    <a:pt x="6424" y="178154"/>
                  </a:lnTo>
                  <a:cubicBezTo>
                    <a:pt x="2876" y="178154"/>
                    <a:pt x="0" y="175278"/>
                    <a:pt x="0" y="171730"/>
                  </a:cubicBezTo>
                  <a:lnTo>
                    <a:pt x="0" y="6424"/>
                  </a:lnTo>
                  <a:cubicBezTo>
                    <a:pt x="0" y="2876"/>
                    <a:pt x="2876" y="0"/>
                    <a:pt x="6424" y="0"/>
                  </a:cubicBezTo>
                  <a:close/>
                </a:path>
              </a:pathLst>
            </a:custGeom>
            <a:solidFill>
              <a:srgbClr val="FAEDED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269697" cy="235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sp>
        <p:nvSpPr>
          <p:cNvPr name="AutoShape 32" id="32"/>
          <p:cNvSpPr/>
          <p:nvPr/>
        </p:nvSpPr>
        <p:spPr>
          <a:xfrm flipV="true">
            <a:off x="2186876" y="3542558"/>
            <a:ext cx="0" cy="3312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559839" y="1920541"/>
            <a:ext cx="2624498" cy="1603772"/>
            <a:chOff x="0" y="0"/>
            <a:chExt cx="691226" cy="4223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1226" cy="422393"/>
            </a:xfrm>
            <a:custGeom>
              <a:avLst/>
              <a:gdLst/>
              <a:ahLst/>
              <a:cxnLst/>
              <a:rect r="r" b="b" t="t" l="l"/>
              <a:pathLst>
                <a:path h="422393" w="691226">
                  <a:moveTo>
                    <a:pt x="58997" y="0"/>
                  </a:moveTo>
                  <a:lnTo>
                    <a:pt x="632229" y="0"/>
                  </a:lnTo>
                  <a:cubicBezTo>
                    <a:pt x="664812" y="0"/>
                    <a:pt x="691226" y="26414"/>
                    <a:pt x="691226" y="58997"/>
                  </a:cubicBezTo>
                  <a:lnTo>
                    <a:pt x="691226" y="363395"/>
                  </a:lnTo>
                  <a:cubicBezTo>
                    <a:pt x="691226" y="395979"/>
                    <a:pt x="664812" y="422393"/>
                    <a:pt x="632229" y="422393"/>
                  </a:cubicBezTo>
                  <a:lnTo>
                    <a:pt x="58997" y="422393"/>
                  </a:lnTo>
                  <a:cubicBezTo>
                    <a:pt x="26414" y="422393"/>
                    <a:pt x="0" y="395979"/>
                    <a:pt x="0" y="363395"/>
                  </a:cubicBezTo>
                  <a:lnTo>
                    <a:pt x="0" y="58997"/>
                  </a:lnTo>
                  <a:cubicBezTo>
                    <a:pt x="0" y="26414"/>
                    <a:pt x="26414" y="0"/>
                    <a:pt x="58997" y="0"/>
                  </a:cubicBezTo>
                  <a:close/>
                </a:path>
              </a:pathLst>
            </a:custGeom>
            <a:solidFill>
              <a:srgbClr val="C2E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91226" cy="470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798"/>
                </a:lnSpc>
              </a:pPr>
              <a:r>
                <a:rPr lang="en-US" sz="19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  Farmers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 Requirements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 Dashboard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Check Schedule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525370" y="2012488"/>
            <a:ext cx="2570120" cy="1607230"/>
            <a:chOff x="0" y="0"/>
            <a:chExt cx="676904" cy="4233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6904" cy="423303"/>
            </a:xfrm>
            <a:custGeom>
              <a:avLst/>
              <a:gdLst/>
              <a:ahLst/>
              <a:cxnLst/>
              <a:rect r="r" b="b" t="t" l="l"/>
              <a:pathLst>
                <a:path h="423303" w="676904">
                  <a:moveTo>
                    <a:pt x="60246" y="0"/>
                  </a:moveTo>
                  <a:lnTo>
                    <a:pt x="616658" y="0"/>
                  </a:lnTo>
                  <a:cubicBezTo>
                    <a:pt x="632637" y="0"/>
                    <a:pt x="647960" y="6347"/>
                    <a:pt x="659258" y="17646"/>
                  </a:cubicBezTo>
                  <a:cubicBezTo>
                    <a:pt x="670557" y="28944"/>
                    <a:pt x="676904" y="44267"/>
                    <a:pt x="676904" y="60246"/>
                  </a:cubicBezTo>
                  <a:lnTo>
                    <a:pt x="676904" y="363058"/>
                  </a:lnTo>
                  <a:cubicBezTo>
                    <a:pt x="676904" y="379036"/>
                    <a:pt x="670557" y="394360"/>
                    <a:pt x="659258" y="405658"/>
                  </a:cubicBezTo>
                  <a:cubicBezTo>
                    <a:pt x="647960" y="416956"/>
                    <a:pt x="632637" y="423303"/>
                    <a:pt x="616658" y="423303"/>
                  </a:cubicBezTo>
                  <a:lnTo>
                    <a:pt x="60246" y="423303"/>
                  </a:lnTo>
                  <a:cubicBezTo>
                    <a:pt x="44267" y="423303"/>
                    <a:pt x="28944" y="416956"/>
                    <a:pt x="17646" y="405658"/>
                  </a:cubicBezTo>
                  <a:cubicBezTo>
                    <a:pt x="6347" y="394360"/>
                    <a:pt x="0" y="379036"/>
                    <a:pt x="0" y="363058"/>
                  </a:cubicBezTo>
                  <a:lnTo>
                    <a:pt x="0" y="60246"/>
                  </a:lnTo>
                  <a:cubicBezTo>
                    <a:pt x="0" y="44267"/>
                    <a:pt x="6347" y="28944"/>
                    <a:pt x="17646" y="17646"/>
                  </a:cubicBezTo>
                  <a:cubicBezTo>
                    <a:pt x="28944" y="6347"/>
                    <a:pt x="44267" y="0"/>
                    <a:pt x="60246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676904" cy="4804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 Labourers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Create Profile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Update Availability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 Bookings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420451" y="1926763"/>
            <a:ext cx="3488107" cy="1622016"/>
            <a:chOff x="0" y="0"/>
            <a:chExt cx="918678" cy="42719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8678" cy="427198"/>
            </a:xfrm>
            <a:custGeom>
              <a:avLst/>
              <a:gdLst/>
              <a:ahLst/>
              <a:cxnLst/>
              <a:rect r="r" b="b" t="t" l="l"/>
              <a:pathLst>
                <a:path h="427198" w="918678">
                  <a:moveTo>
                    <a:pt x="44390" y="0"/>
                  </a:moveTo>
                  <a:lnTo>
                    <a:pt x="874288" y="0"/>
                  </a:lnTo>
                  <a:cubicBezTo>
                    <a:pt x="886061" y="0"/>
                    <a:pt x="897352" y="4677"/>
                    <a:pt x="905677" y="13002"/>
                  </a:cubicBezTo>
                  <a:cubicBezTo>
                    <a:pt x="914001" y="21326"/>
                    <a:pt x="918678" y="32617"/>
                    <a:pt x="918678" y="44390"/>
                  </a:cubicBezTo>
                  <a:lnTo>
                    <a:pt x="918678" y="382807"/>
                  </a:lnTo>
                  <a:cubicBezTo>
                    <a:pt x="918678" y="407323"/>
                    <a:pt x="898804" y="427198"/>
                    <a:pt x="874288" y="427198"/>
                  </a:cubicBezTo>
                  <a:lnTo>
                    <a:pt x="44390" y="427198"/>
                  </a:lnTo>
                  <a:cubicBezTo>
                    <a:pt x="19874" y="427198"/>
                    <a:pt x="0" y="407323"/>
                    <a:pt x="0" y="382807"/>
                  </a:cubicBezTo>
                  <a:lnTo>
                    <a:pt x="0" y="44390"/>
                  </a:lnTo>
                  <a:cubicBezTo>
                    <a:pt x="0" y="19874"/>
                    <a:pt x="19874" y="0"/>
                    <a:pt x="44390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918678" cy="484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7998" indent="-258999" lvl="1">
                <a:lnSpc>
                  <a:spcPts val="3358"/>
                </a:lnSpc>
                <a:buFont typeface="Arial"/>
                <a:buChar char="•"/>
              </a:pPr>
              <a:r>
                <a:rPr lang="en-US" b="true" sz="23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Machinery Owners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Add Machinery Details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Update Availability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View Bookings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flipV="true">
            <a:off x="11527977" y="3542558"/>
            <a:ext cx="0" cy="3312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0280033" y="1944999"/>
            <a:ext cx="2533988" cy="1603781"/>
            <a:chOff x="0" y="0"/>
            <a:chExt cx="667388" cy="42239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7388" cy="422395"/>
            </a:xfrm>
            <a:custGeom>
              <a:avLst/>
              <a:gdLst/>
              <a:ahLst/>
              <a:cxnLst/>
              <a:rect r="r" b="b" t="t" l="l"/>
              <a:pathLst>
                <a:path h="422395" w="667388">
                  <a:moveTo>
                    <a:pt x="61105" y="0"/>
                  </a:moveTo>
                  <a:lnTo>
                    <a:pt x="606283" y="0"/>
                  </a:lnTo>
                  <a:cubicBezTo>
                    <a:pt x="622489" y="0"/>
                    <a:pt x="638031" y="6438"/>
                    <a:pt x="649491" y="17897"/>
                  </a:cubicBezTo>
                  <a:cubicBezTo>
                    <a:pt x="660950" y="29356"/>
                    <a:pt x="667388" y="44899"/>
                    <a:pt x="667388" y="61105"/>
                  </a:cubicBezTo>
                  <a:lnTo>
                    <a:pt x="667388" y="361290"/>
                  </a:lnTo>
                  <a:cubicBezTo>
                    <a:pt x="667388" y="377496"/>
                    <a:pt x="660950" y="393038"/>
                    <a:pt x="649491" y="404498"/>
                  </a:cubicBezTo>
                  <a:cubicBezTo>
                    <a:pt x="638031" y="415957"/>
                    <a:pt x="622489" y="422395"/>
                    <a:pt x="606283" y="422395"/>
                  </a:cubicBezTo>
                  <a:lnTo>
                    <a:pt x="61105" y="422395"/>
                  </a:lnTo>
                  <a:cubicBezTo>
                    <a:pt x="44899" y="422395"/>
                    <a:pt x="29356" y="415957"/>
                    <a:pt x="17897" y="404498"/>
                  </a:cubicBezTo>
                  <a:cubicBezTo>
                    <a:pt x="6438" y="393038"/>
                    <a:pt x="0" y="377496"/>
                    <a:pt x="0" y="361290"/>
                  </a:cubicBezTo>
                  <a:lnTo>
                    <a:pt x="0" y="61105"/>
                  </a:lnTo>
                  <a:cubicBezTo>
                    <a:pt x="0" y="44899"/>
                    <a:pt x="6438" y="29356"/>
                    <a:pt x="17897" y="17897"/>
                  </a:cubicBezTo>
                  <a:cubicBezTo>
                    <a:pt x="29356" y="6438"/>
                    <a:pt x="44899" y="0"/>
                    <a:pt x="61105" y="0"/>
                  </a:cubicBezTo>
                  <a:close/>
                </a:path>
              </a:pathLst>
            </a:custGeom>
            <a:solidFill>
              <a:srgbClr val="C2E9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667388" cy="479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   Admin</a:t>
              </a:r>
            </a:p>
            <a:p>
              <a:pPr algn="just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 Users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Verify Profiles</a:t>
              </a:r>
            </a:p>
            <a:p>
              <a:pPr algn="l" marL="431801" indent="-215900" lvl="1">
                <a:lnSpc>
                  <a:spcPts val="2800"/>
                </a:lnSpc>
                <a:buFont typeface="Arial"/>
                <a:buChar char="•"/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Monitor Platform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250" y="4184735"/>
            <a:ext cx="2333357" cy="1603772"/>
            <a:chOff x="0" y="0"/>
            <a:chExt cx="614547" cy="42239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4547" cy="422393"/>
            </a:xfrm>
            <a:custGeom>
              <a:avLst/>
              <a:gdLst/>
              <a:ahLst/>
              <a:cxnLst/>
              <a:rect r="r" b="b" t="t" l="l"/>
              <a:pathLst>
                <a:path h="422393" w="614547">
                  <a:moveTo>
                    <a:pt x="66359" y="0"/>
                  </a:moveTo>
                  <a:lnTo>
                    <a:pt x="548188" y="0"/>
                  </a:lnTo>
                  <a:cubicBezTo>
                    <a:pt x="565787" y="0"/>
                    <a:pt x="582666" y="6991"/>
                    <a:pt x="595111" y="19436"/>
                  </a:cubicBezTo>
                  <a:cubicBezTo>
                    <a:pt x="607555" y="31881"/>
                    <a:pt x="614547" y="48759"/>
                    <a:pt x="614547" y="66359"/>
                  </a:cubicBezTo>
                  <a:lnTo>
                    <a:pt x="614547" y="356034"/>
                  </a:lnTo>
                  <a:cubicBezTo>
                    <a:pt x="614547" y="373633"/>
                    <a:pt x="607555" y="390512"/>
                    <a:pt x="595111" y="402957"/>
                  </a:cubicBezTo>
                  <a:cubicBezTo>
                    <a:pt x="582666" y="415401"/>
                    <a:pt x="565787" y="422393"/>
                    <a:pt x="548188" y="422393"/>
                  </a:cubicBezTo>
                  <a:lnTo>
                    <a:pt x="66359" y="422393"/>
                  </a:lnTo>
                  <a:cubicBezTo>
                    <a:pt x="48759" y="422393"/>
                    <a:pt x="31881" y="415401"/>
                    <a:pt x="19436" y="402957"/>
                  </a:cubicBezTo>
                  <a:cubicBezTo>
                    <a:pt x="6991" y="390512"/>
                    <a:pt x="0" y="373633"/>
                    <a:pt x="0" y="356034"/>
                  </a:cubicBezTo>
                  <a:lnTo>
                    <a:pt x="0" y="66359"/>
                  </a:lnTo>
                  <a:cubicBezTo>
                    <a:pt x="0" y="48759"/>
                    <a:pt x="6991" y="31881"/>
                    <a:pt x="19436" y="19436"/>
                  </a:cubicBezTo>
                  <a:cubicBezTo>
                    <a:pt x="31881" y="6991"/>
                    <a:pt x="48759" y="0"/>
                    <a:pt x="66359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14547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 Requirement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Select Work Type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Date &amp; Location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Other Details</a:t>
              </a:r>
            </a:p>
          </p:txBody>
        </p:sp>
      </p:grpSp>
      <p:sp>
        <p:nvSpPr>
          <p:cNvPr name="Freeform 49" id="49"/>
          <p:cNvSpPr/>
          <p:nvPr/>
        </p:nvSpPr>
        <p:spPr>
          <a:xfrm>
            <a:off x="3589113" y="5549350"/>
            <a:ext cx="23812" cy="483557"/>
          </a:xfrm>
          <a:custGeom>
            <a:avLst/>
            <a:gdLst/>
            <a:ahLst/>
            <a:cxnLst/>
            <a:rect r="r" b="b" t="t" l="l"/>
            <a:pathLst>
              <a:path h="483557" w="23812">
                <a:moveTo>
                  <a:pt x="0" y="483557"/>
                </a:moveTo>
                <a:lnTo>
                  <a:pt x="0" y="253685"/>
                </a:lnTo>
                <a:cubicBezTo>
                  <a:pt x="0" y="247109"/>
                  <a:pt x="5331" y="241779"/>
                  <a:pt x="11907" y="241779"/>
                </a:cubicBezTo>
                <a:lnTo>
                  <a:pt x="11907" y="241779"/>
                </a:lnTo>
                <a:cubicBezTo>
                  <a:pt x="18482" y="241779"/>
                  <a:pt x="23813" y="236448"/>
                  <a:pt x="23813" y="229872"/>
                </a:cubicBezTo>
                <a:lnTo>
                  <a:pt x="23813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50" id="50"/>
          <p:cNvGrpSpPr/>
          <p:nvPr/>
        </p:nvGrpSpPr>
        <p:grpSpPr>
          <a:xfrm rot="0">
            <a:off x="2696339" y="4159329"/>
            <a:ext cx="3175418" cy="1603772"/>
            <a:chOff x="0" y="0"/>
            <a:chExt cx="836324" cy="42239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6324" cy="422393"/>
            </a:xfrm>
            <a:custGeom>
              <a:avLst/>
              <a:gdLst/>
              <a:ahLst/>
              <a:cxnLst/>
              <a:rect r="r" b="b" t="t" l="l"/>
              <a:pathLst>
                <a:path h="422393" w="836324">
                  <a:moveTo>
                    <a:pt x="48762" y="0"/>
                  </a:moveTo>
                  <a:lnTo>
                    <a:pt x="787563" y="0"/>
                  </a:lnTo>
                  <a:cubicBezTo>
                    <a:pt x="800495" y="0"/>
                    <a:pt x="812898" y="5137"/>
                    <a:pt x="822042" y="14282"/>
                  </a:cubicBezTo>
                  <a:cubicBezTo>
                    <a:pt x="831187" y="23427"/>
                    <a:pt x="836324" y="35829"/>
                    <a:pt x="836324" y="48762"/>
                  </a:cubicBezTo>
                  <a:lnTo>
                    <a:pt x="836324" y="373631"/>
                  </a:lnTo>
                  <a:cubicBezTo>
                    <a:pt x="836324" y="386563"/>
                    <a:pt x="831187" y="398966"/>
                    <a:pt x="822042" y="408111"/>
                  </a:cubicBezTo>
                  <a:cubicBezTo>
                    <a:pt x="812898" y="417255"/>
                    <a:pt x="800495" y="422393"/>
                    <a:pt x="787563" y="422393"/>
                  </a:cubicBezTo>
                  <a:lnTo>
                    <a:pt x="48762" y="422393"/>
                  </a:lnTo>
                  <a:cubicBezTo>
                    <a:pt x="35829" y="422393"/>
                    <a:pt x="23427" y="417255"/>
                    <a:pt x="14282" y="408111"/>
                  </a:cubicBezTo>
                  <a:cubicBezTo>
                    <a:pt x="5137" y="398966"/>
                    <a:pt x="0" y="386563"/>
                    <a:pt x="0" y="373631"/>
                  </a:cubicBezTo>
                  <a:lnTo>
                    <a:pt x="0" y="48762"/>
                  </a:lnTo>
                  <a:cubicBezTo>
                    <a:pt x="0" y="35829"/>
                    <a:pt x="5137" y="23427"/>
                    <a:pt x="14282" y="14282"/>
                  </a:cubicBezTo>
                  <a:cubicBezTo>
                    <a:pt x="23427" y="5137"/>
                    <a:pt x="35829" y="0"/>
                    <a:pt x="48762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36324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AI Based Matching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Find Nearby Labour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Find Machinery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 Price &amp; Ratings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095490" y="4133922"/>
            <a:ext cx="2581051" cy="1670385"/>
            <a:chOff x="0" y="0"/>
            <a:chExt cx="679783" cy="43993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9783" cy="439937"/>
            </a:xfrm>
            <a:custGeom>
              <a:avLst/>
              <a:gdLst/>
              <a:ahLst/>
              <a:cxnLst/>
              <a:rect r="r" b="b" t="t" l="l"/>
              <a:pathLst>
                <a:path h="439937" w="679783">
                  <a:moveTo>
                    <a:pt x="59990" y="0"/>
                  </a:moveTo>
                  <a:lnTo>
                    <a:pt x="619793" y="0"/>
                  </a:lnTo>
                  <a:cubicBezTo>
                    <a:pt x="635703" y="0"/>
                    <a:pt x="650962" y="6320"/>
                    <a:pt x="662212" y="17571"/>
                  </a:cubicBezTo>
                  <a:cubicBezTo>
                    <a:pt x="673463" y="28821"/>
                    <a:pt x="679783" y="44080"/>
                    <a:pt x="679783" y="59990"/>
                  </a:cubicBezTo>
                  <a:lnTo>
                    <a:pt x="679783" y="379946"/>
                  </a:lnTo>
                  <a:cubicBezTo>
                    <a:pt x="679783" y="395857"/>
                    <a:pt x="673463" y="411116"/>
                    <a:pt x="662212" y="422366"/>
                  </a:cubicBezTo>
                  <a:cubicBezTo>
                    <a:pt x="650962" y="433616"/>
                    <a:pt x="635703" y="439937"/>
                    <a:pt x="619793" y="439937"/>
                  </a:cubicBezTo>
                  <a:lnTo>
                    <a:pt x="59990" y="439937"/>
                  </a:lnTo>
                  <a:cubicBezTo>
                    <a:pt x="44080" y="439937"/>
                    <a:pt x="28821" y="433616"/>
                    <a:pt x="17571" y="422366"/>
                  </a:cubicBezTo>
                  <a:cubicBezTo>
                    <a:pt x="6320" y="411116"/>
                    <a:pt x="0" y="395857"/>
                    <a:pt x="0" y="379946"/>
                  </a:cubicBezTo>
                  <a:lnTo>
                    <a:pt x="0" y="59990"/>
                  </a:lnTo>
                  <a:cubicBezTo>
                    <a:pt x="0" y="44080"/>
                    <a:pt x="6320" y="28821"/>
                    <a:pt x="17571" y="17571"/>
                  </a:cubicBezTo>
                  <a:cubicBezTo>
                    <a:pt x="28821" y="6320"/>
                    <a:pt x="44080" y="0"/>
                    <a:pt x="59990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679783" cy="497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 Choose &amp; Book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Select Best Option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Confirm Booking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Confirmation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931423" y="4133922"/>
            <a:ext cx="2360721" cy="1654585"/>
            <a:chOff x="0" y="0"/>
            <a:chExt cx="621754" cy="4357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21754" cy="435775"/>
            </a:xfrm>
            <a:custGeom>
              <a:avLst/>
              <a:gdLst/>
              <a:ahLst/>
              <a:cxnLst/>
              <a:rect r="r" b="b" t="t" l="l"/>
              <a:pathLst>
                <a:path h="435775" w="621754">
                  <a:moveTo>
                    <a:pt x="65589" y="0"/>
                  </a:moveTo>
                  <a:lnTo>
                    <a:pt x="556164" y="0"/>
                  </a:lnTo>
                  <a:cubicBezTo>
                    <a:pt x="573560" y="0"/>
                    <a:pt x="590243" y="6910"/>
                    <a:pt x="602543" y="19211"/>
                  </a:cubicBezTo>
                  <a:cubicBezTo>
                    <a:pt x="614843" y="31511"/>
                    <a:pt x="621754" y="48194"/>
                    <a:pt x="621754" y="65589"/>
                  </a:cubicBezTo>
                  <a:lnTo>
                    <a:pt x="621754" y="370186"/>
                  </a:lnTo>
                  <a:cubicBezTo>
                    <a:pt x="621754" y="406410"/>
                    <a:pt x="592388" y="435775"/>
                    <a:pt x="556164" y="435775"/>
                  </a:cubicBezTo>
                  <a:lnTo>
                    <a:pt x="65589" y="435775"/>
                  </a:lnTo>
                  <a:cubicBezTo>
                    <a:pt x="48194" y="435775"/>
                    <a:pt x="31511" y="428865"/>
                    <a:pt x="19211" y="416565"/>
                  </a:cubicBezTo>
                  <a:cubicBezTo>
                    <a:pt x="6910" y="404264"/>
                    <a:pt x="0" y="387581"/>
                    <a:pt x="0" y="370186"/>
                  </a:cubicBezTo>
                  <a:lnTo>
                    <a:pt x="0" y="65589"/>
                  </a:lnTo>
                  <a:cubicBezTo>
                    <a:pt x="0" y="48194"/>
                    <a:pt x="6910" y="31511"/>
                    <a:pt x="19211" y="19211"/>
                  </a:cubicBezTo>
                  <a:cubicBezTo>
                    <a:pt x="31511" y="6910"/>
                    <a:pt x="48194" y="0"/>
                    <a:pt x="65589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621754" cy="492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</a:t>
              </a: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Secure Payment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Pay Online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Safe &amp; Secure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Get Receipt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607072" y="4133922"/>
            <a:ext cx="2110497" cy="1603772"/>
            <a:chOff x="0" y="0"/>
            <a:chExt cx="555851" cy="42239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55851" cy="422393"/>
            </a:xfrm>
            <a:custGeom>
              <a:avLst/>
              <a:gdLst/>
              <a:ahLst/>
              <a:cxnLst/>
              <a:rect r="r" b="b" t="t" l="l"/>
              <a:pathLst>
                <a:path h="422393" w="555851">
                  <a:moveTo>
                    <a:pt x="73366" y="0"/>
                  </a:moveTo>
                  <a:lnTo>
                    <a:pt x="482485" y="0"/>
                  </a:lnTo>
                  <a:cubicBezTo>
                    <a:pt x="501943" y="0"/>
                    <a:pt x="520604" y="7730"/>
                    <a:pt x="534363" y="21488"/>
                  </a:cubicBezTo>
                  <a:cubicBezTo>
                    <a:pt x="548121" y="35247"/>
                    <a:pt x="555851" y="53908"/>
                    <a:pt x="555851" y="73366"/>
                  </a:cubicBezTo>
                  <a:lnTo>
                    <a:pt x="555851" y="349027"/>
                  </a:lnTo>
                  <a:cubicBezTo>
                    <a:pt x="555851" y="368485"/>
                    <a:pt x="548121" y="387145"/>
                    <a:pt x="534363" y="400904"/>
                  </a:cubicBezTo>
                  <a:cubicBezTo>
                    <a:pt x="520604" y="414663"/>
                    <a:pt x="501943" y="422393"/>
                    <a:pt x="482485" y="422393"/>
                  </a:cubicBezTo>
                  <a:lnTo>
                    <a:pt x="73366" y="422393"/>
                  </a:lnTo>
                  <a:cubicBezTo>
                    <a:pt x="53908" y="422393"/>
                    <a:pt x="35247" y="414663"/>
                    <a:pt x="21488" y="400904"/>
                  </a:cubicBezTo>
                  <a:cubicBezTo>
                    <a:pt x="7730" y="387145"/>
                    <a:pt x="0" y="368485"/>
                    <a:pt x="0" y="349027"/>
                  </a:cubicBezTo>
                  <a:lnTo>
                    <a:pt x="0" y="73366"/>
                  </a:lnTo>
                  <a:cubicBezTo>
                    <a:pt x="0" y="53908"/>
                    <a:pt x="7730" y="35247"/>
                    <a:pt x="21488" y="21488"/>
                  </a:cubicBezTo>
                  <a:cubicBezTo>
                    <a:pt x="35247" y="7730"/>
                    <a:pt x="53908" y="0"/>
                    <a:pt x="73366" y="0"/>
                  </a:cubicBezTo>
                  <a:close/>
                </a:path>
              </a:pathLst>
            </a:custGeom>
            <a:solidFill>
              <a:srgbClr val="FFF3C2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55851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Live Tracking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Track Labour / Machinery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Live Location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90291" y="6032907"/>
            <a:ext cx="2997645" cy="1603772"/>
            <a:chOff x="0" y="0"/>
            <a:chExt cx="789503" cy="42239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89503" cy="422393"/>
            </a:xfrm>
            <a:custGeom>
              <a:avLst/>
              <a:gdLst/>
              <a:ahLst/>
              <a:cxnLst/>
              <a:rect r="r" b="b" t="t" l="l"/>
              <a:pathLst>
                <a:path h="422393" w="789503">
                  <a:moveTo>
                    <a:pt x="51653" y="0"/>
                  </a:moveTo>
                  <a:lnTo>
                    <a:pt x="737850" y="0"/>
                  </a:lnTo>
                  <a:cubicBezTo>
                    <a:pt x="751549" y="0"/>
                    <a:pt x="764687" y="5442"/>
                    <a:pt x="774374" y="15129"/>
                  </a:cubicBezTo>
                  <a:cubicBezTo>
                    <a:pt x="784061" y="24816"/>
                    <a:pt x="789503" y="37954"/>
                    <a:pt x="789503" y="51653"/>
                  </a:cubicBezTo>
                  <a:lnTo>
                    <a:pt x="789503" y="370739"/>
                  </a:lnTo>
                  <a:cubicBezTo>
                    <a:pt x="789503" y="399267"/>
                    <a:pt x="766377" y="422393"/>
                    <a:pt x="737850" y="422393"/>
                  </a:cubicBezTo>
                  <a:lnTo>
                    <a:pt x="51653" y="422393"/>
                  </a:lnTo>
                  <a:cubicBezTo>
                    <a:pt x="23126" y="422393"/>
                    <a:pt x="0" y="399267"/>
                    <a:pt x="0" y="370739"/>
                  </a:cubicBezTo>
                  <a:lnTo>
                    <a:pt x="0" y="51653"/>
                  </a:lnTo>
                  <a:cubicBezTo>
                    <a:pt x="0" y="23126"/>
                    <a:pt x="23126" y="0"/>
                    <a:pt x="51653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789503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Data Inputs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Weather Information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Soil Information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Crop Information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639405" y="6052151"/>
            <a:ext cx="3253146" cy="1603772"/>
            <a:chOff x="0" y="0"/>
            <a:chExt cx="856796" cy="42239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56796" cy="422393"/>
            </a:xfrm>
            <a:custGeom>
              <a:avLst/>
              <a:gdLst/>
              <a:ahLst/>
              <a:cxnLst/>
              <a:rect r="r" b="b" t="t" l="l"/>
              <a:pathLst>
                <a:path h="422393" w="856796">
                  <a:moveTo>
                    <a:pt x="47597" y="0"/>
                  </a:moveTo>
                  <a:lnTo>
                    <a:pt x="809199" y="0"/>
                  </a:lnTo>
                  <a:cubicBezTo>
                    <a:pt x="821823" y="0"/>
                    <a:pt x="833929" y="5015"/>
                    <a:pt x="842855" y="13941"/>
                  </a:cubicBezTo>
                  <a:cubicBezTo>
                    <a:pt x="851781" y="22867"/>
                    <a:pt x="856796" y="34973"/>
                    <a:pt x="856796" y="47597"/>
                  </a:cubicBezTo>
                  <a:lnTo>
                    <a:pt x="856796" y="374796"/>
                  </a:lnTo>
                  <a:cubicBezTo>
                    <a:pt x="856796" y="401083"/>
                    <a:pt x="835486" y="422393"/>
                    <a:pt x="809199" y="422393"/>
                  </a:cubicBezTo>
                  <a:lnTo>
                    <a:pt x="47597" y="422393"/>
                  </a:lnTo>
                  <a:cubicBezTo>
                    <a:pt x="34973" y="422393"/>
                    <a:pt x="22867" y="417378"/>
                    <a:pt x="13941" y="408452"/>
                  </a:cubicBezTo>
                  <a:cubicBezTo>
                    <a:pt x="5015" y="399526"/>
                    <a:pt x="0" y="387419"/>
                    <a:pt x="0" y="374796"/>
                  </a:cubicBezTo>
                  <a:lnTo>
                    <a:pt x="0" y="47597"/>
                  </a:lnTo>
                  <a:cubicBezTo>
                    <a:pt x="0" y="34973"/>
                    <a:pt x="5015" y="22867"/>
                    <a:pt x="13941" y="13941"/>
                  </a:cubicBezTo>
                  <a:cubicBezTo>
                    <a:pt x="22867" y="5015"/>
                    <a:pt x="34973" y="0"/>
                    <a:pt x="47597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856796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     </a:t>
              </a: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AI Planning 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Crop Wise Plan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Activity Schedule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Timely Reminders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49379" y="6063981"/>
            <a:ext cx="3013183" cy="1603772"/>
            <a:chOff x="0" y="0"/>
            <a:chExt cx="793595" cy="42239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93595" cy="422393"/>
            </a:xfrm>
            <a:custGeom>
              <a:avLst/>
              <a:gdLst/>
              <a:ahLst/>
              <a:cxnLst/>
              <a:rect r="r" b="b" t="t" l="l"/>
              <a:pathLst>
                <a:path h="422393" w="793595">
                  <a:moveTo>
                    <a:pt x="53956" y="0"/>
                  </a:moveTo>
                  <a:lnTo>
                    <a:pt x="739639" y="0"/>
                  </a:lnTo>
                  <a:cubicBezTo>
                    <a:pt x="769438" y="0"/>
                    <a:pt x="793595" y="24157"/>
                    <a:pt x="793595" y="53956"/>
                  </a:cubicBezTo>
                  <a:lnTo>
                    <a:pt x="793595" y="368436"/>
                  </a:lnTo>
                  <a:cubicBezTo>
                    <a:pt x="793595" y="398236"/>
                    <a:pt x="769438" y="422393"/>
                    <a:pt x="739639" y="422393"/>
                  </a:cubicBezTo>
                  <a:lnTo>
                    <a:pt x="53956" y="422393"/>
                  </a:lnTo>
                  <a:cubicBezTo>
                    <a:pt x="24157" y="422393"/>
                    <a:pt x="0" y="398236"/>
                    <a:pt x="0" y="368436"/>
                  </a:cubicBezTo>
                  <a:lnTo>
                    <a:pt x="0" y="53956"/>
                  </a:lnTo>
                  <a:cubicBezTo>
                    <a:pt x="0" y="24157"/>
                    <a:pt x="24157" y="0"/>
                    <a:pt x="53956" y="0"/>
                  </a:cubicBezTo>
                  <a:close/>
                </a:path>
              </a:pathLst>
            </a:custGeom>
            <a:solidFill>
              <a:srgbClr val="D9F4CD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793595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  Outputs </a:t>
              </a: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/ </a:t>
              </a: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Benefits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Timely Operations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Cost Saving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Higher Productivity</a:t>
              </a:r>
            </a:p>
          </p:txBody>
        </p:sp>
      </p:grpSp>
      <p:sp>
        <p:nvSpPr>
          <p:cNvPr name="Freeform 71" id="71"/>
          <p:cNvSpPr/>
          <p:nvPr/>
        </p:nvSpPr>
        <p:spPr>
          <a:xfrm>
            <a:off x="5261217" y="8668443"/>
            <a:ext cx="1522897" cy="12908"/>
          </a:xfrm>
          <a:custGeom>
            <a:avLst/>
            <a:gdLst/>
            <a:ahLst/>
            <a:cxnLst/>
            <a:rect r="r" b="b" t="t" l="l"/>
            <a:pathLst>
              <a:path h="12908" w="1522897">
                <a:moveTo>
                  <a:pt x="0" y="0"/>
                </a:moveTo>
                <a:lnTo>
                  <a:pt x="754995" y="0"/>
                </a:lnTo>
                <a:cubicBezTo>
                  <a:pt x="758559" y="0"/>
                  <a:pt x="761449" y="2890"/>
                  <a:pt x="761449" y="6454"/>
                </a:cubicBezTo>
                <a:lnTo>
                  <a:pt x="761449" y="6454"/>
                </a:lnTo>
                <a:cubicBezTo>
                  <a:pt x="761449" y="10018"/>
                  <a:pt x="764338" y="12908"/>
                  <a:pt x="767903" y="12908"/>
                </a:cubicBezTo>
                <a:lnTo>
                  <a:pt x="1522897" y="12908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72" id="72"/>
          <p:cNvGrpSpPr/>
          <p:nvPr/>
        </p:nvGrpSpPr>
        <p:grpSpPr>
          <a:xfrm rot="0">
            <a:off x="2215947" y="7866557"/>
            <a:ext cx="3045270" cy="1603772"/>
            <a:chOff x="0" y="0"/>
            <a:chExt cx="802046" cy="42239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02046" cy="422393"/>
            </a:xfrm>
            <a:custGeom>
              <a:avLst/>
              <a:gdLst/>
              <a:ahLst/>
              <a:cxnLst/>
              <a:rect r="r" b="b" t="t" l="l"/>
              <a:pathLst>
                <a:path h="422393" w="802046">
                  <a:moveTo>
                    <a:pt x="50846" y="0"/>
                  </a:moveTo>
                  <a:lnTo>
                    <a:pt x="751201" y="0"/>
                  </a:lnTo>
                  <a:cubicBezTo>
                    <a:pt x="764686" y="0"/>
                    <a:pt x="777619" y="5357"/>
                    <a:pt x="787154" y="14892"/>
                  </a:cubicBezTo>
                  <a:cubicBezTo>
                    <a:pt x="796689" y="24428"/>
                    <a:pt x="802046" y="37360"/>
                    <a:pt x="802046" y="50846"/>
                  </a:cubicBezTo>
                  <a:lnTo>
                    <a:pt x="802046" y="371547"/>
                  </a:lnTo>
                  <a:cubicBezTo>
                    <a:pt x="802046" y="385032"/>
                    <a:pt x="796689" y="397965"/>
                    <a:pt x="787154" y="407500"/>
                  </a:cubicBezTo>
                  <a:cubicBezTo>
                    <a:pt x="777619" y="417036"/>
                    <a:pt x="764686" y="422393"/>
                    <a:pt x="751201" y="422393"/>
                  </a:cubicBezTo>
                  <a:lnTo>
                    <a:pt x="50846" y="422393"/>
                  </a:lnTo>
                  <a:cubicBezTo>
                    <a:pt x="37360" y="422393"/>
                    <a:pt x="24428" y="417036"/>
                    <a:pt x="14892" y="407500"/>
                  </a:cubicBezTo>
                  <a:cubicBezTo>
                    <a:pt x="5357" y="397965"/>
                    <a:pt x="0" y="385032"/>
                    <a:pt x="0" y="371547"/>
                  </a:cubicBezTo>
                  <a:lnTo>
                    <a:pt x="0" y="50846"/>
                  </a:lnTo>
                  <a:cubicBezTo>
                    <a:pt x="0" y="37360"/>
                    <a:pt x="5357" y="24428"/>
                    <a:pt x="14892" y="14892"/>
                  </a:cubicBezTo>
                  <a:cubicBezTo>
                    <a:pt x="24428" y="5357"/>
                    <a:pt x="37360" y="0"/>
                    <a:pt x="50846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802046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</a:t>
              </a: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Alerts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Booking Alerts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Reminders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Weather Alerts      </a:t>
              </a:r>
            </a:p>
          </p:txBody>
        </p:sp>
      </p:grpSp>
      <p:sp>
        <p:nvSpPr>
          <p:cNvPr name="Freeform 75" id="75"/>
          <p:cNvSpPr/>
          <p:nvPr/>
        </p:nvSpPr>
        <p:spPr>
          <a:xfrm>
            <a:off x="9631354" y="8668443"/>
            <a:ext cx="730445" cy="0"/>
          </a:xfrm>
          <a:custGeom>
            <a:avLst/>
            <a:gdLst/>
            <a:ahLst/>
            <a:cxnLst/>
            <a:rect r="r" b="b" t="t" l="l"/>
            <a:pathLst>
              <a:path h="0" w="730445">
                <a:moveTo>
                  <a:pt x="0" y="0"/>
                </a:moveTo>
                <a:lnTo>
                  <a:pt x="730445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grpSp>
        <p:nvGrpSpPr>
          <p:cNvPr name="Group 76" id="76"/>
          <p:cNvGrpSpPr/>
          <p:nvPr/>
        </p:nvGrpSpPr>
        <p:grpSpPr>
          <a:xfrm rot="0">
            <a:off x="5639405" y="7866557"/>
            <a:ext cx="3253146" cy="1603772"/>
            <a:chOff x="0" y="0"/>
            <a:chExt cx="856796" cy="42239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56796" cy="422393"/>
            </a:xfrm>
            <a:custGeom>
              <a:avLst/>
              <a:gdLst/>
              <a:ahLst/>
              <a:cxnLst/>
              <a:rect r="r" b="b" t="t" l="l"/>
              <a:pathLst>
                <a:path h="422393" w="856796">
                  <a:moveTo>
                    <a:pt x="47597" y="0"/>
                  </a:moveTo>
                  <a:lnTo>
                    <a:pt x="809199" y="0"/>
                  </a:lnTo>
                  <a:cubicBezTo>
                    <a:pt x="821823" y="0"/>
                    <a:pt x="833929" y="5015"/>
                    <a:pt x="842855" y="13941"/>
                  </a:cubicBezTo>
                  <a:cubicBezTo>
                    <a:pt x="851781" y="22867"/>
                    <a:pt x="856796" y="34973"/>
                    <a:pt x="856796" y="47597"/>
                  </a:cubicBezTo>
                  <a:lnTo>
                    <a:pt x="856796" y="374796"/>
                  </a:lnTo>
                  <a:cubicBezTo>
                    <a:pt x="856796" y="387419"/>
                    <a:pt x="851781" y="399526"/>
                    <a:pt x="842855" y="408452"/>
                  </a:cubicBezTo>
                  <a:cubicBezTo>
                    <a:pt x="833929" y="417378"/>
                    <a:pt x="821823" y="422393"/>
                    <a:pt x="809199" y="422393"/>
                  </a:cubicBezTo>
                  <a:lnTo>
                    <a:pt x="47597" y="422393"/>
                  </a:lnTo>
                  <a:cubicBezTo>
                    <a:pt x="34973" y="422393"/>
                    <a:pt x="22867" y="417378"/>
                    <a:pt x="13941" y="408452"/>
                  </a:cubicBezTo>
                  <a:cubicBezTo>
                    <a:pt x="5015" y="399526"/>
                    <a:pt x="0" y="387419"/>
                    <a:pt x="0" y="374796"/>
                  </a:cubicBezTo>
                  <a:lnTo>
                    <a:pt x="0" y="47597"/>
                  </a:lnTo>
                  <a:cubicBezTo>
                    <a:pt x="0" y="34973"/>
                    <a:pt x="5015" y="22867"/>
                    <a:pt x="13941" y="13941"/>
                  </a:cubicBezTo>
                  <a:cubicBezTo>
                    <a:pt x="22867" y="5015"/>
                    <a:pt x="34973" y="0"/>
                    <a:pt x="47597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856796" cy="479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</a:t>
              </a: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peration Management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Manage Bookings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Work Completion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Feedback &amp; Ratings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446361" y="7866557"/>
            <a:ext cx="3013183" cy="1629588"/>
            <a:chOff x="0" y="0"/>
            <a:chExt cx="793595" cy="42919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93595" cy="429192"/>
            </a:xfrm>
            <a:custGeom>
              <a:avLst/>
              <a:gdLst/>
              <a:ahLst/>
              <a:cxnLst/>
              <a:rect r="r" b="b" t="t" l="l"/>
              <a:pathLst>
                <a:path h="429192" w="793595">
                  <a:moveTo>
                    <a:pt x="51387" y="0"/>
                  </a:moveTo>
                  <a:lnTo>
                    <a:pt x="742208" y="0"/>
                  </a:lnTo>
                  <a:cubicBezTo>
                    <a:pt x="770589" y="0"/>
                    <a:pt x="793595" y="23007"/>
                    <a:pt x="793595" y="51387"/>
                  </a:cubicBezTo>
                  <a:lnTo>
                    <a:pt x="793595" y="377805"/>
                  </a:lnTo>
                  <a:cubicBezTo>
                    <a:pt x="793595" y="406185"/>
                    <a:pt x="770589" y="429192"/>
                    <a:pt x="742208" y="429192"/>
                  </a:cubicBezTo>
                  <a:lnTo>
                    <a:pt x="51387" y="429192"/>
                  </a:lnTo>
                  <a:cubicBezTo>
                    <a:pt x="23007" y="429192"/>
                    <a:pt x="0" y="406185"/>
                    <a:pt x="0" y="377805"/>
                  </a:cubicBezTo>
                  <a:lnTo>
                    <a:pt x="0" y="51387"/>
                  </a:lnTo>
                  <a:cubicBezTo>
                    <a:pt x="0" y="23007"/>
                    <a:pt x="23007" y="0"/>
                    <a:pt x="51387" y="0"/>
                  </a:cubicBezTo>
                  <a:close/>
                </a:path>
              </a:pathLst>
            </a:custGeom>
            <a:solidFill>
              <a:srgbClr val="C2CDFF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57150"/>
              <a:ext cx="793595" cy="486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358"/>
                </a:lnSpc>
              </a:pPr>
              <a:r>
                <a:rPr lang="en-US" sz="2399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Reports &amp; Analytics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Earnings Report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Booking History</a:t>
              </a:r>
            </a:p>
            <a:p>
              <a:pPr algn="l" marL="431640" indent="-215820" lvl="1">
                <a:lnSpc>
                  <a:spcPts val="2798"/>
                </a:lnSpc>
                <a:buFont typeface="Arial"/>
                <a:buChar char="•"/>
              </a:pPr>
              <a:r>
                <a:rPr lang="en-US" sz="199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Performance Report</a:t>
              </a:r>
            </a:p>
          </p:txBody>
        </p:sp>
      </p:grpSp>
      <p:sp>
        <p:nvSpPr>
          <p:cNvPr name="Freeform 82" id="82"/>
          <p:cNvSpPr/>
          <p:nvPr/>
        </p:nvSpPr>
        <p:spPr>
          <a:xfrm>
            <a:off x="1628607" y="1271902"/>
            <a:ext cx="2999891" cy="648640"/>
          </a:xfrm>
          <a:custGeom>
            <a:avLst/>
            <a:gdLst/>
            <a:ahLst/>
            <a:cxnLst/>
            <a:rect r="r" b="b" t="t" l="l"/>
            <a:pathLst>
              <a:path h="648640" w="2999891">
                <a:moveTo>
                  <a:pt x="0" y="648639"/>
                </a:moveTo>
                <a:lnTo>
                  <a:pt x="0" y="228600"/>
                </a:lnTo>
                <a:cubicBezTo>
                  <a:pt x="0" y="102347"/>
                  <a:pt x="102348" y="0"/>
                  <a:pt x="228600" y="0"/>
                </a:cubicBezTo>
                <a:lnTo>
                  <a:pt x="2999891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83" id="83"/>
          <p:cNvSpPr/>
          <p:nvPr/>
        </p:nvSpPr>
        <p:spPr>
          <a:xfrm>
            <a:off x="9449379" y="1271902"/>
            <a:ext cx="2097648" cy="673097"/>
          </a:xfrm>
          <a:custGeom>
            <a:avLst/>
            <a:gdLst/>
            <a:ahLst/>
            <a:cxnLst/>
            <a:rect r="r" b="b" t="t" l="l"/>
            <a:pathLst>
              <a:path h="673097" w="2097648">
                <a:moveTo>
                  <a:pt x="2097648" y="673097"/>
                </a:moveTo>
                <a:lnTo>
                  <a:pt x="2097648" y="228600"/>
                </a:lnTo>
                <a:cubicBezTo>
                  <a:pt x="2097648" y="102347"/>
                  <a:pt x="1995300" y="0"/>
                  <a:pt x="1869048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84" id="84"/>
          <p:cNvSpPr/>
          <p:nvPr/>
        </p:nvSpPr>
        <p:spPr>
          <a:xfrm>
            <a:off x="1305928" y="3890536"/>
            <a:ext cx="11356393" cy="294199"/>
          </a:xfrm>
          <a:custGeom>
            <a:avLst/>
            <a:gdLst/>
            <a:ahLst/>
            <a:cxnLst/>
            <a:rect r="r" b="b" t="t" l="l"/>
            <a:pathLst>
              <a:path h="294199" w="11356393">
                <a:moveTo>
                  <a:pt x="0" y="294199"/>
                </a:moveTo>
                <a:lnTo>
                  <a:pt x="0" y="147100"/>
                </a:lnTo>
                <a:cubicBezTo>
                  <a:pt x="0" y="108087"/>
                  <a:pt x="15498" y="70671"/>
                  <a:pt x="43084" y="43085"/>
                </a:cubicBezTo>
                <a:cubicBezTo>
                  <a:pt x="70671" y="15498"/>
                  <a:pt x="108086" y="0"/>
                  <a:pt x="147099" y="0"/>
                </a:cubicBezTo>
                <a:lnTo>
                  <a:pt x="11234700" y="0"/>
                </a:lnTo>
                <a:cubicBezTo>
                  <a:pt x="11266975" y="0"/>
                  <a:pt x="11297928" y="12821"/>
                  <a:pt x="11320750" y="35643"/>
                </a:cubicBezTo>
                <a:cubicBezTo>
                  <a:pt x="11343572" y="58465"/>
                  <a:pt x="11356393" y="89418"/>
                  <a:pt x="11356393" y="121693"/>
                </a:cubicBezTo>
                <a:lnTo>
                  <a:pt x="11356393" y="243386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5" id="85"/>
          <p:cNvSpPr/>
          <p:nvPr/>
        </p:nvSpPr>
        <p:spPr>
          <a:xfrm flipV="true">
            <a:off x="4829480" y="1651530"/>
            <a:ext cx="0" cy="3312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AutoShape 86" id="86"/>
          <p:cNvSpPr/>
          <p:nvPr/>
        </p:nvSpPr>
        <p:spPr>
          <a:xfrm flipV="true">
            <a:off x="7934620" y="1610116"/>
            <a:ext cx="0" cy="33123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87" id="87"/>
          <p:cNvSpPr/>
          <p:nvPr/>
        </p:nvSpPr>
        <p:spPr>
          <a:xfrm>
            <a:off x="12459543" y="5932253"/>
            <a:ext cx="405346" cy="913704"/>
          </a:xfrm>
          <a:custGeom>
            <a:avLst/>
            <a:gdLst/>
            <a:ahLst/>
            <a:cxnLst/>
            <a:rect r="r" b="b" t="t" l="l"/>
            <a:pathLst>
              <a:path h="913704" w="405346">
                <a:moveTo>
                  <a:pt x="0" y="913704"/>
                </a:moveTo>
                <a:lnTo>
                  <a:pt x="202673" y="913704"/>
                </a:lnTo>
                <a:cubicBezTo>
                  <a:pt x="256426" y="913704"/>
                  <a:pt x="307976" y="892351"/>
                  <a:pt x="345985" y="854342"/>
                </a:cubicBezTo>
                <a:cubicBezTo>
                  <a:pt x="383993" y="816334"/>
                  <a:pt x="405346" y="764783"/>
                  <a:pt x="405346" y="711031"/>
                </a:cubicBezTo>
                <a:lnTo>
                  <a:pt x="405346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88" id="88"/>
          <p:cNvSpPr/>
          <p:nvPr/>
        </p:nvSpPr>
        <p:spPr>
          <a:xfrm>
            <a:off x="12459543" y="7103132"/>
            <a:ext cx="405346" cy="1578219"/>
          </a:xfrm>
          <a:custGeom>
            <a:avLst/>
            <a:gdLst/>
            <a:ahLst/>
            <a:cxnLst/>
            <a:rect r="r" b="b" t="t" l="l"/>
            <a:pathLst>
              <a:path h="1578219" w="405346">
                <a:moveTo>
                  <a:pt x="0" y="1578219"/>
                </a:moveTo>
                <a:lnTo>
                  <a:pt x="202673" y="1578219"/>
                </a:lnTo>
                <a:cubicBezTo>
                  <a:pt x="256426" y="1578219"/>
                  <a:pt x="307976" y="1556866"/>
                  <a:pt x="345985" y="1518857"/>
                </a:cubicBezTo>
                <a:cubicBezTo>
                  <a:pt x="383993" y="1480849"/>
                  <a:pt x="405346" y="1429298"/>
                  <a:pt x="405346" y="1375546"/>
                </a:cubicBezTo>
                <a:lnTo>
                  <a:pt x="405346" y="202672"/>
                </a:lnTo>
                <a:cubicBezTo>
                  <a:pt x="405346" y="148920"/>
                  <a:pt x="383993" y="97370"/>
                  <a:pt x="345985" y="59361"/>
                </a:cubicBezTo>
                <a:cubicBezTo>
                  <a:pt x="307976" y="21353"/>
                  <a:pt x="256426" y="0"/>
                  <a:pt x="202673" y="0"/>
                </a:cubicBezTo>
                <a:lnTo>
                  <a:pt x="0" y="0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  <p:sp>
        <p:nvSpPr>
          <p:cNvPr name="Freeform 89" id="89"/>
          <p:cNvSpPr/>
          <p:nvPr/>
        </p:nvSpPr>
        <p:spPr>
          <a:xfrm flipH="false" flipV="false" rot="0">
            <a:off x="14535113" y="5763101"/>
            <a:ext cx="842616" cy="952853"/>
          </a:xfrm>
          <a:custGeom>
            <a:avLst/>
            <a:gdLst/>
            <a:ahLst/>
            <a:cxnLst/>
            <a:rect r="r" b="b" t="t" l="l"/>
            <a:pathLst>
              <a:path h="952853" w="842616">
                <a:moveTo>
                  <a:pt x="0" y="0"/>
                </a:moveTo>
                <a:lnTo>
                  <a:pt x="842616" y="0"/>
                </a:lnTo>
                <a:lnTo>
                  <a:pt x="842616" y="952853"/>
                </a:lnTo>
                <a:lnTo>
                  <a:pt x="0" y="952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87806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15999143" y="5763101"/>
            <a:ext cx="688448" cy="952853"/>
          </a:xfrm>
          <a:custGeom>
            <a:avLst/>
            <a:gdLst/>
            <a:ahLst/>
            <a:cxnLst/>
            <a:rect r="r" b="b" t="t" l="l"/>
            <a:pathLst>
              <a:path h="952853" w="688448">
                <a:moveTo>
                  <a:pt x="0" y="0"/>
                </a:moveTo>
                <a:lnTo>
                  <a:pt x="688448" y="0"/>
                </a:lnTo>
                <a:lnTo>
                  <a:pt x="688448" y="952853"/>
                </a:lnTo>
                <a:lnTo>
                  <a:pt x="0" y="9528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25236" t="0" r="-4626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4967548" y="7121609"/>
            <a:ext cx="1596192" cy="1033690"/>
          </a:xfrm>
          <a:custGeom>
            <a:avLst/>
            <a:gdLst/>
            <a:ahLst/>
            <a:cxnLst/>
            <a:rect r="r" b="b" t="t" l="l"/>
            <a:pathLst>
              <a:path h="1033690" w="1596192">
                <a:moveTo>
                  <a:pt x="0" y="0"/>
                </a:moveTo>
                <a:lnTo>
                  <a:pt x="1596192" y="0"/>
                </a:lnTo>
                <a:lnTo>
                  <a:pt x="1596192" y="1033689"/>
                </a:lnTo>
                <a:lnTo>
                  <a:pt x="0" y="10336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2" id="92"/>
          <p:cNvSpPr txBox="true"/>
          <p:nvPr/>
        </p:nvSpPr>
        <p:spPr>
          <a:xfrm rot="0">
            <a:off x="14442927" y="6844203"/>
            <a:ext cx="2550972" cy="26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4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Payments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4810430" y="-6754"/>
            <a:ext cx="8375066" cy="9404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4436514" y="1479214"/>
            <a:ext cx="2533190" cy="490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0"/>
              </a:lnSpc>
              <a:spcBef>
                <a:spcPct val="0"/>
              </a:spcBef>
            </a:pPr>
            <a:r>
              <a:rPr lang="en-US" sz="277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5225463" y="2131287"/>
            <a:ext cx="858398" cy="28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 End 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5291523" y="3762593"/>
            <a:ext cx="879257" cy="32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5"/>
              </a:lnSpc>
              <a:spcBef>
                <a:spcPct val="0"/>
              </a:spcBef>
            </a:pPr>
            <a:r>
              <a:rPr lang="en-US" sz="17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4605195" y="1300096"/>
            <a:ext cx="46606" cy="262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b="true" sz="143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4605195" y="940330"/>
            <a:ext cx="4817863" cy="67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Login / Register</a:t>
            </a:r>
          </a:p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(Farmer / Labourer / Machinery Owner)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7761189" y="9624431"/>
            <a:ext cx="2878122" cy="603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 skh.sanjivaniuniversity.co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674793" y="5236990"/>
            <a:ext cx="2146495" cy="287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3"/>
              </a:lnSpc>
              <a:spcBef>
                <a:spcPct val="0"/>
              </a:spcBef>
            </a:pPr>
            <a:r>
              <a:rPr lang="en-US" sz="157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&amp; File Storage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4498768" y="8107673"/>
            <a:ext cx="2550972" cy="265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43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Maps and Geolocation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9532144"/>
            <a:ext cx="18281094" cy="754856"/>
            <a:chOff x="0" y="0"/>
            <a:chExt cx="18281091" cy="7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0"/>
              <a:ext cx="18278092" cy="754894"/>
            </a:xfrm>
            <a:custGeom>
              <a:avLst/>
              <a:gdLst/>
              <a:ahLst/>
              <a:cxnLst/>
              <a:rect r="r" b="b" t="t" l="l"/>
              <a:pathLst>
                <a:path h="754894" w="18278092">
                  <a:moveTo>
                    <a:pt x="0" y="0"/>
                  </a:moveTo>
                  <a:lnTo>
                    <a:pt x="0" y="754894"/>
                  </a:lnTo>
                  <a:lnTo>
                    <a:pt x="18278092" y="754894"/>
                  </a:lnTo>
                  <a:lnTo>
                    <a:pt x="18278092" y="0"/>
                  </a:ln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2208" y="80622"/>
            <a:ext cx="1553616" cy="708797"/>
          </a:xfrm>
          <a:custGeom>
            <a:avLst/>
            <a:gdLst/>
            <a:ahLst/>
            <a:cxnLst/>
            <a:rect r="r" b="b" t="t" l="l"/>
            <a:pathLst>
              <a:path h="708797" w="1553616">
                <a:moveTo>
                  <a:pt x="0" y="0"/>
                </a:moveTo>
                <a:lnTo>
                  <a:pt x="1553616" y="0"/>
                </a:lnTo>
                <a:lnTo>
                  <a:pt x="1553616" y="708797"/>
                </a:lnTo>
                <a:lnTo>
                  <a:pt x="0" y="7087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595" r="0" b="-65595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653340" y="1212335"/>
          <a:ext cx="8059570" cy="4723600"/>
        </p:xfrm>
        <a:graphic>
          <a:graphicData uri="http://schemas.openxmlformats.org/drawingml/2006/table">
            <a:tbl>
              <a:tblPr/>
              <a:tblGrid>
                <a:gridCol w="4029785"/>
                <a:gridCol w="4029785"/>
              </a:tblGrid>
              <a:tr h="118083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Challenges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D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Our Solution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CDFF"/>
                    </a:solidFill>
                  </a:tcPr>
                </a:tc>
              </a:tr>
              <a:tr h="11811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Labour shortage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AI matches nearby verified labourers instantly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083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Machinery unavailability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machinery booking with live availability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0833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High transportation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Cooperative Booking reduces travel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9659525" y="5705475"/>
          <a:ext cx="8053385" cy="3552825"/>
        </p:xfrm>
        <a:graphic>
          <a:graphicData uri="http://schemas.openxmlformats.org/drawingml/2006/table">
            <a:tbl>
              <a:tblPr/>
              <a:tblGrid>
                <a:gridCol w="4026693"/>
                <a:gridCol w="4026693"/>
              </a:tblGrid>
              <a:tr h="11842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rust &amp; payment issues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OTP verification, ratings &amp; Smart Trust Score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42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Lack of transparency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Centralized dashboard with tracking &amp; analytics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4275"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Limited digital adoption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multilingual interface with voice assistance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7" id="7"/>
          <p:cNvGrpSpPr/>
          <p:nvPr/>
        </p:nvGrpSpPr>
        <p:grpSpPr>
          <a:xfrm rot="0">
            <a:off x="327465" y="4638485"/>
            <a:ext cx="9163554" cy="4696627"/>
            <a:chOff x="0" y="0"/>
            <a:chExt cx="2413446" cy="12369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13446" cy="1236972"/>
            </a:xfrm>
            <a:custGeom>
              <a:avLst/>
              <a:gdLst/>
              <a:ahLst/>
              <a:cxnLst/>
              <a:rect r="r" b="b" t="t" l="l"/>
              <a:pathLst>
                <a:path h="1236972" w="2413446">
                  <a:moveTo>
                    <a:pt x="43088" y="0"/>
                  </a:moveTo>
                  <a:lnTo>
                    <a:pt x="2370358" y="0"/>
                  </a:lnTo>
                  <a:cubicBezTo>
                    <a:pt x="2394155" y="0"/>
                    <a:pt x="2413446" y="19291"/>
                    <a:pt x="2413446" y="43088"/>
                  </a:cubicBezTo>
                  <a:lnTo>
                    <a:pt x="2413446" y="1193884"/>
                  </a:lnTo>
                  <a:cubicBezTo>
                    <a:pt x="2413446" y="1205312"/>
                    <a:pt x="2408907" y="1216271"/>
                    <a:pt x="2400826" y="1224352"/>
                  </a:cubicBezTo>
                  <a:cubicBezTo>
                    <a:pt x="2392746" y="1232432"/>
                    <a:pt x="2381786" y="1236972"/>
                    <a:pt x="2370358" y="1236972"/>
                  </a:cubicBezTo>
                  <a:lnTo>
                    <a:pt x="43088" y="1236972"/>
                  </a:lnTo>
                  <a:cubicBezTo>
                    <a:pt x="19291" y="1236972"/>
                    <a:pt x="0" y="1217681"/>
                    <a:pt x="0" y="1193884"/>
                  </a:cubicBezTo>
                  <a:lnTo>
                    <a:pt x="0" y="43088"/>
                  </a:lnTo>
                  <a:cubicBezTo>
                    <a:pt x="0" y="31660"/>
                    <a:pt x="4540" y="20701"/>
                    <a:pt x="12620" y="12620"/>
                  </a:cubicBezTo>
                  <a:cubicBezTo>
                    <a:pt x="20701" y="4540"/>
                    <a:pt x="31660" y="0"/>
                    <a:pt x="4308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413446" cy="1294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246356" y="9639081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73377" y="35044"/>
            <a:ext cx="10134961" cy="9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  <a:spcBef>
                <a:spcPct val="0"/>
              </a:spcBef>
            </a:pPr>
            <a:r>
              <a:rPr lang="en-US" b="true" sz="5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 VIABILITY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9238" y="4981640"/>
            <a:ext cx="9525" cy="3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139238" y="4981640"/>
            <a:ext cx="9525" cy="314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19981" y="5248210"/>
            <a:ext cx="8354324" cy="3873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29281" indent="-214640" lvl="1">
              <a:lnSpc>
                <a:spcPts val="2783"/>
              </a:lnSpc>
              <a:buFont typeface="Arial"/>
              <a:buChar char="•"/>
            </a:pPr>
            <a:r>
              <a:rPr lang="en-US" b="true" sz="19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Solving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just">
              <a:lnSpc>
                <a:spcPts val="2783"/>
              </a:lnSpc>
            </a:pP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- Helps farmers easily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find labour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machinery</a:t>
            </a:r>
            <a:r>
              <a:rPr lang="en-US" sz="1988">
                <a:solidFill>
                  <a:srgbClr val="0097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they need them.</a:t>
            </a:r>
          </a:p>
          <a:p>
            <a:pPr algn="just" marL="429281" indent="-214640" lvl="1">
              <a:lnSpc>
                <a:spcPts val="2783"/>
              </a:lnSpc>
              <a:buFont typeface="Arial"/>
              <a:buChar char="•"/>
            </a:pPr>
            <a:r>
              <a:rPr lang="en-US" b="true" sz="19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Efficiency </a:t>
            </a:r>
          </a:p>
          <a:p>
            <a:pPr algn="just">
              <a:lnSpc>
                <a:spcPts val="2783"/>
              </a:lnSpc>
            </a:pP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Reduces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waiting time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travel costs, and</a:t>
            </a:r>
            <a:r>
              <a:rPr lang="en-US" sz="1988">
                <a:solidFill>
                  <a:srgbClr val="0097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fuel usage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algn="just" marL="429281" indent="-214640" lvl="1">
              <a:lnSpc>
                <a:spcPts val="2783"/>
              </a:lnSpc>
              <a:buFont typeface="Arial"/>
              <a:buChar char="•"/>
            </a:pPr>
            <a:r>
              <a:rPr lang="en-US" b="true" sz="19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Productivity Impact </a:t>
            </a:r>
          </a:p>
          <a:p>
            <a:pPr algn="just">
              <a:lnSpc>
                <a:spcPts val="2783"/>
              </a:lnSpc>
            </a:pP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Increases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 productivity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AI-based planning.</a:t>
            </a:r>
          </a:p>
          <a:p>
            <a:pPr algn="just" marL="429281" indent="-214640" lvl="1">
              <a:lnSpc>
                <a:spcPts val="2783"/>
              </a:lnSpc>
              <a:buFont typeface="Arial"/>
              <a:buChar char="•"/>
            </a:pPr>
            <a:r>
              <a:rPr lang="en-US" b="true" sz="19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Impact </a:t>
            </a:r>
          </a:p>
          <a:p>
            <a:pPr algn="just">
              <a:lnSpc>
                <a:spcPts val="2783"/>
              </a:lnSpc>
            </a:pP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- Creates more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income opportunities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labourers and machinery owners.</a:t>
            </a:r>
          </a:p>
          <a:p>
            <a:pPr algn="just" marL="429281" indent="-214640" lvl="1">
              <a:lnSpc>
                <a:spcPts val="2783"/>
              </a:lnSpc>
              <a:buFont typeface="Arial"/>
              <a:buChar char="•"/>
            </a:pPr>
            <a:r>
              <a:rPr lang="en-US" b="true" sz="198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Business Model</a:t>
            </a:r>
          </a:p>
          <a:p>
            <a:pPr algn="just">
              <a:lnSpc>
                <a:spcPts val="2783"/>
              </a:lnSpc>
            </a:pP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- </a:t>
            </a:r>
            <a:r>
              <a:rPr lang="en-US" sz="1988" b="true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Earns revenue</a:t>
            </a:r>
            <a:r>
              <a:rPr lang="en-US" sz="198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198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 booking fees and premium services.</a:t>
            </a:r>
          </a:p>
          <a:p>
            <a:pPr algn="just">
              <a:lnSpc>
                <a:spcPts val="2783"/>
              </a:lnSpc>
              <a:spcBef>
                <a:spcPct val="0"/>
              </a:spcBef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4763" y="9532144"/>
            <a:ext cx="18288000" cy="755904"/>
          </a:xfrm>
          <a:custGeom>
            <a:avLst/>
            <a:gdLst/>
            <a:ahLst/>
            <a:cxnLst/>
            <a:rect r="r" b="b" t="t" l="l"/>
            <a:pathLst>
              <a:path h="755904" w="18288000">
                <a:moveTo>
                  <a:pt x="0" y="0"/>
                </a:moveTo>
                <a:lnTo>
                  <a:pt x="18288000" y="0"/>
                </a:lnTo>
                <a:lnTo>
                  <a:pt x="18288000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698438" y="9600074"/>
            <a:ext cx="2878122" cy="60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 skh.sanjivaniuniversity.co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7259300" y="0"/>
            <a:ext cx="1166760" cy="1212335"/>
            <a:chOff x="0" y="0"/>
            <a:chExt cx="2059699" cy="21401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59686" cy="2140204"/>
            </a:xfrm>
            <a:custGeom>
              <a:avLst/>
              <a:gdLst/>
              <a:ahLst/>
              <a:cxnLst/>
              <a:rect r="r" b="b" t="t" l="l"/>
              <a:pathLst>
                <a:path h="2140204" w="2059686">
                  <a:moveTo>
                    <a:pt x="0" y="0"/>
                  </a:moveTo>
                  <a:lnTo>
                    <a:pt x="2059686" y="0"/>
                  </a:lnTo>
                  <a:lnTo>
                    <a:pt x="2059686" y="2140204"/>
                  </a:lnTo>
                  <a:lnTo>
                    <a:pt x="0" y="2140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986" t="0" r="-1920" b="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993757" y="4696376"/>
            <a:ext cx="2004109" cy="59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Viability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36601" y="1404424"/>
            <a:ext cx="7960636" cy="2826003"/>
            <a:chOff x="0" y="0"/>
            <a:chExt cx="10614182" cy="3768004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3399742" y="1319176"/>
              <a:ext cx="3527559" cy="1112810"/>
              <a:chOff x="0" y="0"/>
              <a:chExt cx="696802" cy="21981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96802" cy="219814"/>
              </a:xfrm>
              <a:custGeom>
                <a:avLst/>
                <a:gdLst/>
                <a:ahLst/>
                <a:cxnLst/>
                <a:rect r="r" b="b" t="t" l="l"/>
                <a:pathLst>
                  <a:path h="219814" w="696802">
                    <a:moveTo>
                      <a:pt x="29263" y="0"/>
                    </a:moveTo>
                    <a:lnTo>
                      <a:pt x="667539" y="0"/>
                    </a:lnTo>
                    <a:cubicBezTo>
                      <a:pt x="675300" y="0"/>
                      <a:pt x="682743" y="3083"/>
                      <a:pt x="688231" y="8571"/>
                    </a:cubicBezTo>
                    <a:cubicBezTo>
                      <a:pt x="693719" y="14059"/>
                      <a:pt x="696802" y="21502"/>
                      <a:pt x="696802" y="29263"/>
                    </a:cubicBezTo>
                    <a:lnTo>
                      <a:pt x="696802" y="190552"/>
                    </a:lnTo>
                    <a:cubicBezTo>
                      <a:pt x="696802" y="198313"/>
                      <a:pt x="693719" y="205756"/>
                      <a:pt x="688231" y="211243"/>
                    </a:cubicBezTo>
                    <a:cubicBezTo>
                      <a:pt x="682743" y="216731"/>
                      <a:pt x="675300" y="219814"/>
                      <a:pt x="667539" y="219814"/>
                    </a:cubicBezTo>
                    <a:lnTo>
                      <a:pt x="29263" y="219814"/>
                    </a:lnTo>
                    <a:cubicBezTo>
                      <a:pt x="21502" y="219814"/>
                      <a:pt x="14059" y="216731"/>
                      <a:pt x="8571" y="211243"/>
                    </a:cubicBezTo>
                    <a:cubicBezTo>
                      <a:pt x="3083" y="205756"/>
                      <a:pt x="0" y="198313"/>
                      <a:pt x="0" y="190552"/>
                    </a:cubicBezTo>
                    <a:lnTo>
                      <a:pt x="0" y="29263"/>
                    </a:lnTo>
                    <a:cubicBezTo>
                      <a:pt x="0" y="21502"/>
                      <a:pt x="3083" y="14059"/>
                      <a:pt x="8571" y="8571"/>
                    </a:cubicBezTo>
                    <a:cubicBezTo>
                      <a:pt x="14059" y="3083"/>
                      <a:pt x="21502" y="0"/>
                      <a:pt x="29263" y="0"/>
                    </a:cubicBezTo>
                    <a:close/>
                  </a:path>
                </a:pathLst>
              </a:custGeom>
              <a:solidFill>
                <a:srgbClr val="C2CD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696802" cy="276964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3358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884473" y="1447366"/>
              <a:ext cx="2558098" cy="7707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8"/>
                </a:lnSpc>
                <a:spcBef>
                  <a:spcPct val="0"/>
                </a:spcBef>
              </a:pPr>
              <a:r>
                <a:rPr lang="en-US" b="true" sz="3399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</a:t>
              </a:r>
            </a:p>
          </p:txBody>
        </p:sp>
        <p:sp>
          <p:nvSpPr>
            <p:cNvPr name="AutoShape 25" id="25"/>
            <p:cNvSpPr/>
            <p:nvPr/>
          </p:nvSpPr>
          <p:spPr>
            <a:xfrm flipV="true">
              <a:off x="6871319" y="792200"/>
              <a:ext cx="902887" cy="58170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6" id="26"/>
            <p:cNvSpPr/>
            <p:nvPr/>
          </p:nvSpPr>
          <p:spPr>
            <a:xfrm>
              <a:off x="6885186" y="2387774"/>
              <a:ext cx="889020" cy="57688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7" id="27"/>
            <p:cNvSpPr/>
            <p:nvPr/>
          </p:nvSpPr>
          <p:spPr>
            <a:xfrm flipH="true">
              <a:off x="2609300" y="2346072"/>
              <a:ext cx="836303" cy="61858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28" id="28"/>
            <p:cNvSpPr/>
            <p:nvPr/>
          </p:nvSpPr>
          <p:spPr>
            <a:xfrm flipH="true" flipV="true">
              <a:off x="2609300" y="792200"/>
              <a:ext cx="840543" cy="55289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29" id="29"/>
            <p:cNvGrpSpPr/>
            <p:nvPr/>
          </p:nvGrpSpPr>
          <p:grpSpPr>
            <a:xfrm rot="0">
              <a:off x="0" y="0"/>
              <a:ext cx="2609300" cy="1112810"/>
              <a:chOff x="0" y="0"/>
              <a:chExt cx="515417" cy="21981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515417" cy="219814"/>
              </a:xfrm>
              <a:custGeom>
                <a:avLst/>
                <a:gdLst/>
                <a:ahLst/>
                <a:cxnLst/>
                <a:rect r="r" b="b" t="t" l="l"/>
                <a:pathLst>
                  <a:path h="219814" w="515417">
                    <a:moveTo>
                      <a:pt x="39561" y="0"/>
                    </a:moveTo>
                    <a:lnTo>
                      <a:pt x="475857" y="0"/>
                    </a:lnTo>
                    <a:cubicBezTo>
                      <a:pt x="497705" y="0"/>
                      <a:pt x="515417" y="17712"/>
                      <a:pt x="515417" y="39561"/>
                    </a:cubicBezTo>
                    <a:lnTo>
                      <a:pt x="515417" y="180254"/>
                    </a:lnTo>
                    <a:cubicBezTo>
                      <a:pt x="515417" y="190746"/>
                      <a:pt x="511249" y="200808"/>
                      <a:pt x="503830" y="208227"/>
                    </a:cubicBezTo>
                    <a:cubicBezTo>
                      <a:pt x="496411" y="215646"/>
                      <a:pt x="486349" y="219814"/>
                      <a:pt x="475857" y="219814"/>
                    </a:cubicBezTo>
                    <a:lnTo>
                      <a:pt x="39561" y="219814"/>
                    </a:lnTo>
                    <a:cubicBezTo>
                      <a:pt x="17712" y="219814"/>
                      <a:pt x="0" y="202102"/>
                      <a:pt x="0" y="180254"/>
                    </a:cubicBezTo>
                    <a:lnTo>
                      <a:pt x="0" y="39561"/>
                    </a:lnTo>
                    <a:cubicBezTo>
                      <a:pt x="0" y="17712"/>
                      <a:pt x="17712" y="0"/>
                      <a:pt x="39561" y="0"/>
                    </a:cubicBezTo>
                    <a:close/>
                  </a:path>
                </a:pathLst>
              </a:custGeom>
              <a:solidFill>
                <a:srgbClr val="C2E9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57150"/>
                <a:ext cx="515417" cy="276964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335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2655195"/>
              <a:ext cx="2609300" cy="1112810"/>
              <a:chOff x="0" y="0"/>
              <a:chExt cx="515417" cy="219814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515417" cy="219814"/>
              </a:xfrm>
              <a:custGeom>
                <a:avLst/>
                <a:gdLst/>
                <a:ahLst/>
                <a:cxnLst/>
                <a:rect r="r" b="b" t="t" l="l"/>
                <a:pathLst>
                  <a:path h="219814" w="515417">
                    <a:moveTo>
                      <a:pt x="39561" y="0"/>
                    </a:moveTo>
                    <a:lnTo>
                      <a:pt x="475857" y="0"/>
                    </a:lnTo>
                    <a:cubicBezTo>
                      <a:pt x="497705" y="0"/>
                      <a:pt x="515417" y="17712"/>
                      <a:pt x="515417" y="39561"/>
                    </a:cubicBezTo>
                    <a:lnTo>
                      <a:pt x="515417" y="180254"/>
                    </a:lnTo>
                    <a:cubicBezTo>
                      <a:pt x="515417" y="190746"/>
                      <a:pt x="511249" y="200808"/>
                      <a:pt x="503830" y="208227"/>
                    </a:cubicBezTo>
                    <a:cubicBezTo>
                      <a:pt x="496411" y="215646"/>
                      <a:pt x="486349" y="219814"/>
                      <a:pt x="475857" y="219814"/>
                    </a:cubicBezTo>
                    <a:lnTo>
                      <a:pt x="39561" y="219814"/>
                    </a:lnTo>
                    <a:cubicBezTo>
                      <a:pt x="17712" y="219814"/>
                      <a:pt x="0" y="202102"/>
                      <a:pt x="0" y="180254"/>
                    </a:cubicBezTo>
                    <a:lnTo>
                      <a:pt x="0" y="39561"/>
                    </a:lnTo>
                    <a:cubicBezTo>
                      <a:pt x="0" y="17712"/>
                      <a:pt x="17712" y="0"/>
                      <a:pt x="39561" y="0"/>
                    </a:cubicBezTo>
                    <a:close/>
                  </a:path>
                </a:pathLst>
              </a:custGeom>
              <a:solidFill>
                <a:srgbClr val="C0F0F7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515417" cy="276964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335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7774206" y="2655195"/>
              <a:ext cx="2839975" cy="1112810"/>
              <a:chOff x="0" y="0"/>
              <a:chExt cx="560983" cy="219814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60983" cy="219814"/>
              </a:xfrm>
              <a:custGeom>
                <a:avLst/>
                <a:gdLst/>
                <a:ahLst/>
                <a:cxnLst/>
                <a:rect r="r" b="b" t="t" l="l"/>
                <a:pathLst>
                  <a:path h="219814" w="560983">
                    <a:moveTo>
                      <a:pt x="36347" y="0"/>
                    </a:moveTo>
                    <a:lnTo>
                      <a:pt x="524635" y="0"/>
                    </a:lnTo>
                    <a:cubicBezTo>
                      <a:pt x="534275" y="0"/>
                      <a:pt x="543520" y="3829"/>
                      <a:pt x="550337" y="10646"/>
                    </a:cubicBezTo>
                    <a:cubicBezTo>
                      <a:pt x="557153" y="17462"/>
                      <a:pt x="560983" y="26707"/>
                      <a:pt x="560983" y="36347"/>
                    </a:cubicBezTo>
                    <a:lnTo>
                      <a:pt x="560983" y="183467"/>
                    </a:lnTo>
                    <a:cubicBezTo>
                      <a:pt x="560983" y="193107"/>
                      <a:pt x="557153" y="202352"/>
                      <a:pt x="550337" y="209168"/>
                    </a:cubicBezTo>
                    <a:cubicBezTo>
                      <a:pt x="543520" y="215985"/>
                      <a:pt x="534275" y="219814"/>
                      <a:pt x="524635" y="219814"/>
                    </a:cubicBezTo>
                    <a:lnTo>
                      <a:pt x="36347" y="219814"/>
                    </a:lnTo>
                    <a:cubicBezTo>
                      <a:pt x="26707" y="219814"/>
                      <a:pt x="17462" y="215985"/>
                      <a:pt x="10646" y="209168"/>
                    </a:cubicBezTo>
                    <a:cubicBezTo>
                      <a:pt x="3829" y="202352"/>
                      <a:pt x="0" y="193107"/>
                      <a:pt x="0" y="183467"/>
                    </a:cubicBezTo>
                    <a:lnTo>
                      <a:pt x="0" y="36347"/>
                    </a:lnTo>
                    <a:cubicBezTo>
                      <a:pt x="0" y="26707"/>
                      <a:pt x="3829" y="17462"/>
                      <a:pt x="10646" y="10646"/>
                    </a:cubicBezTo>
                    <a:cubicBezTo>
                      <a:pt x="17462" y="3829"/>
                      <a:pt x="26707" y="0"/>
                      <a:pt x="36347" y="0"/>
                    </a:cubicBezTo>
                    <a:close/>
                  </a:path>
                </a:pathLst>
              </a:custGeom>
              <a:solidFill>
                <a:srgbClr val="C2E9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57150"/>
                <a:ext cx="560983" cy="276964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3358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7774206" y="0"/>
              <a:ext cx="2839975" cy="1112810"/>
              <a:chOff x="0" y="0"/>
              <a:chExt cx="560983" cy="219814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560983" cy="219814"/>
              </a:xfrm>
              <a:custGeom>
                <a:avLst/>
                <a:gdLst/>
                <a:ahLst/>
                <a:cxnLst/>
                <a:rect r="r" b="b" t="t" l="l"/>
                <a:pathLst>
                  <a:path h="219814" w="560983">
                    <a:moveTo>
                      <a:pt x="36347" y="0"/>
                    </a:moveTo>
                    <a:lnTo>
                      <a:pt x="524635" y="0"/>
                    </a:lnTo>
                    <a:cubicBezTo>
                      <a:pt x="534275" y="0"/>
                      <a:pt x="543520" y="3829"/>
                      <a:pt x="550337" y="10646"/>
                    </a:cubicBezTo>
                    <a:cubicBezTo>
                      <a:pt x="557153" y="17462"/>
                      <a:pt x="560983" y="26707"/>
                      <a:pt x="560983" y="36347"/>
                    </a:cubicBezTo>
                    <a:lnTo>
                      <a:pt x="560983" y="183467"/>
                    </a:lnTo>
                    <a:cubicBezTo>
                      <a:pt x="560983" y="193107"/>
                      <a:pt x="557153" y="202352"/>
                      <a:pt x="550337" y="209168"/>
                    </a:cubicBezTo>
                    <a:cubicBezTo>
                      <a:pt x="543520" y="215985"/>
                      <a:pt x="534275" y="219814"/>
                      <a:pt x="524635" y="219814"/>
                    </a:cubicBezTo>
                    <a:lnTo>
                      <a:pt x="36347" y="219814"/>
                    </a:lnTo>
                    <a:cubicBezTo>
                      <a:pt x="26707" y="219814"/>
                      <a:pt x="17462" y="215985"/>
                      <a:pt x="10646" y="209168"/>
                    </a:cubicBezTo>
                    <a:cubicBezTo>
                      <a:pt x="3829" y="202352"/>
                      <a:pt x="0" y="193107"/>
                      <a:pt x="0" y="183467"/>
                    </a:cubicBezTo>
                    <a:lnTo>
                      <a:pt x="0" y="36347"/>
                    </a:lnTo>
                    <a:cubicBezTo>
                      <a:pt x="0" y="26707"/>
                      <a:pt x="3829" y="17462"/>
                      <a:pt x="10646" y="10646"/>
                    </a:cubicBezTo>
                    <a:cubicBezTo>
                      <a:pt x="17462" y="3829"/>
                      <a:pt x="26707" y="0"/>
                      <a:pt x="36347" y="0"/>
                    </a:cubicBezTo>
                    <a:close/>
                  </a:path>
                </a:pathLst>
              </a:custGeom>
              <a:solidFill>
                <a:srgbClr val="C0F0F7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560983" cy="276964"/>
              </a:xfrm>
              <a:prstGeom prst="rect">
                <a:avLst/>
              </a:prstGeom>
            </p:spPr>
            <p:txBody>
              <a:bodyPr anchor="ctr" rtlCol="false" tIns="63500" lIns="63500" bIns="63500" rIns="63500"/>
              <a:lstStyle/>
              <a:p>
                <a:pPr algn="ctr">
                  <a:lnSpc>
                    <a:spcPts val="3358"/>
                  </a:lnSpc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226885" y="27888"/>
              <a:ext cx="2125664" cy="920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3"/>
                </a:lnSpc>
                <a:spcBef>
                  <a:spcPct val="0"/>
                </a:spcBef>
              </a:pPr>
              <a:r>
                <a:rPr lang="en-US" sz="198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AI-Powered Farm Planning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8032084" y="2744295"/>
              <a:ext cx="2391475" cy="920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3"/>
                </a:lnSpc>
              </a:pPr>
              <a:r>
                <a:rPr lang="en-US" sz="198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Smart Resource</a:t>
              </a:r>
            </a:p>
            <a:p>
              <a:pPr algn="ctr">
                <a:lnSpc>
                  <a:spcPts val="2783"/>
                </a:lnSpc>
                <a:spcBef>
                  <a:spcPct val="0"/>
                </a:spcBef>
              </a:pPr>
              <a:r>
                <a:rPr lang="en-US" sz="198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Matching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26885" y="2744295"/>
              <a:ext cx="2125664" cy="920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3"/>
                </a:lnSpc>
                <a:spcBef>
                  <a:spcPct val="0"/>
                </a:spcBef>
              </a:pPr>
              <a:r>
                <a:rPr lang="en-US" sz="198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Scalable &amp; Easy to Deploy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8032084" y="27888"/>
              <a:ext cx="2391475" cy="920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83"/>
                </a:lnSpc>
              </a:pPr>
              <a:r>
                <a:rPr lang="en-US" sz="198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Cloud &amp; Mobile</a:t>
              </a:r>
            </a:p>
            <a:p>
              <a:pPr algn="ctr">
                <a:lnSpc>
                  <a:spcPts val="2783"/>
                </a:lnSpc>
                <a:spcBef>
                  <a:spcPct val="0"/>
                </a:spcBef>
              </a:pPr>
              <a:r>
                <a:rPr lang="en-US" sz="1988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Platform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309666" y="1478861"/>
            <a:ext cx="7329278" cy="7329278"/>
            <a:chOff x="0" y="0"/>
            <a:chExt cx="9772371" cy="97723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0" y="0"/>
                  </a:moveTo>
                  <a:lnTo>
                    <a:pt x="9772396" y="0"/>
                  </a:lnTo>
                  <a:lnTo>
                    <a:pt x="9772396" y="9772396"/>
                  </a:lnTo>
                  <a:lnTo>
                    <a:pt x="0" y="977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8850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48" y="9532144"/>
            <a:ext cx="18281094" cy="754856"/>
            <a:chOff x="0" y="0"/>
            <a:chExt cx="18281091" cy="754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048" y="0"/>
              <a:ext cx="18278092" cy="754894"/>
            </a:xfrm>
            <a:custGeom>
              <a:avLst/>
              <a:gdLst/>
              <a:ahLst/>
              <a:cxnLst/>
              <a:rect r="r" b="b" t="t" l="l"/>
              <a:pathLst>
                <a:path h="754894" w="18278092">
                  <a:moveTo>
                    <a:pt x="0" y="0"/>
                  </a:moveTo>
                  <a:lnTo>
                    <a:pt x="0" y="754894"/>
                  </a:lnTo>
                  <a:lnTo>
                    <a:pt x="18278092" y="754894"/>
                  </a:lnTo>
                  <a:lnTo>
                    <a:pt x="18278092" y="0"/>
                  </a:lnTo>
                  <a:close/>
                </a:path>
              </a:pathLst>
            </a:custGeom>
            <a:solidFill>
              <a:srgbClr val="FFFFFF">
                <a:alpha val="14902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61324" y="345034"/>
            <a:ext cx="1946472" cy="1277683"/>
          </a:xfrm>
          <a:custGeom>
            <a:avLst/>
            <a:gdLst/>
            <a:ahLst/>
            <a:cxnLst/>
            <a:rect r="r" b="b" t="t" l="l"/>
            <a:pathLst>
              <a:path h="1277683" w="1946472">
                <a:moveTo>
                  <a:pt x="0" y="0"/>
                </a:moveTo>
                <a:lnTo>
                  <a:pt x="1946472" y="0"/>
                </a:lnTo>
                <a:lnTo>
                  <a:pt x="1946472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63503" y="9468641"/>
            <a:ext cx="18405472" cy="881853"/>
            <a:chOff x="0" y="0"/>
            <a:chExt cx="18405475" cy="881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8278475" cy="754883"/>
            </a:xfrm>
            <a:custGeom>
              <a:avLst/>
              <a:gdLst/>
              <a:ahLst/>
              <a:cxnLst/>
              <a:rect r="r" b="b" t="t" l="l"/>
              <a:pathLst>
                <a:path h="754883" w="18278475">
                  <a:moveTo>
                    <a:pt x="0" y="0"/>
                  </a:moveTo>
                  <a:lnTo>
                    <a:pt x="0" y="754882"/>
                  </a:lnTo>
                  <a:lnTo>
                    <a:pt x="18278475" y="754882"/>
                  </a:lnTo>
                  <a:lnTo>
                    <a:pt x="18278475" y="0"/>
                  </a:lnTo>
                  <a:close/>
                </a:path>
              </a:pathLst>
            </a:custGeom>
            <a:solidFill>
              <a:srgbClr val="457A00">
                <a:alpha val="0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169900" y="65913"/>
              <a:ext cx="4267200" cy="547620"/>
            </a:xfrm>
            <a:custGeom>
              <a:avLst/>
              <a:gdLst/>
              <a:ahLst/>
              <a:cxnLst/>
              <a:rect r="r" b="b" t="t" l="l"/>
              <a:pathLst>
                <a:path h="547620" w="4267200">
                  <a:moveTo>
                    <a:pt x="0" y="547620"/>
                  </a:moveTo>
                  <a:lnTo>
                    <a:pt x="4267200" y="547620"/>
                  </a:lnTo>
                  <a:lnTo>
                    <a:pt x="4267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7A00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79361" y="1478861"/>
            <a:ext cx="7329278" cy="7329278"/>
            <a:chOff x="0" y="0"/>
            <a:chExt cx="9772371" cy="97723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0" y="0"/>
                  </a:moveTo>
                  <a:lnTo>
                    <a:pt x="9772396" y="0"/>
                  </a:lnTo>
                  <a:lnTo>
                    <a:pt x="9772396" y="9772396"/>
                  </a:lnTo>
                  <a:lnTo>
                    <a:pt x="0" y="97723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961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70331" y="7964359"/>
            <a:ext cx="16347338" cy="1446341"/>
          </a:xfrm>
          <a:custGeom>
            <a:avLst/>
            <a:gdLst/>
            <a:ahLst/>
            <a:cxnLst/>
            <a:rect r="r" b="b" t="t" l="l"/>
            <a:pathLst>
              <a:path h="1446341" w="16347338">
                <a:moveTo>
                  <a:pt x="0" y="0"/>
                </a:moveTo>
                <a:lnTo>
                  <a:pt x="16347338" y="0"/>
                </a:lnTo>
                <a:lnTo>
                  <a:pt x="16347338" y="1446341"/>
                </a:lnTo>
                <a:lnTo>
                  <a:pt x="0" y="1446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59" t="-157502" r="-1165" b="-398481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61324" y="1207707"/>
            <a:ext cx="9729992" cy="5893976"/>
            <a:chOff x="0" y="0"/>
            <a:chExt cx="2562632" cy="15523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632" cy="1552323"/>
            </a:xfrm>
            <a:custGeom>
              <a:avLst/>
              <a:gdLst/>
              <a:ahLst/>
              <a:cxnLst/>
              <a:rect r="r" b="b" t="t" l="l"/>
              <a:pathLst>
                <a:path h="1552323" w="2562632">
                  <a:moveTo>
                    <a:pt x="40579" y="0"/>
                  </a:moveTo>
                  <a:lnTo>
                    <a:pt x="2522052" y="0"/>
                  </a:lnTo>
                  <a:cubicBezTo>
                    <a:pt x="2532814" y="0"/>
                    <a:pt x="2543136" y="4275"/>
                    <a:pt x="2550746" y="11885"/>
                  </a:cubicBezTo>
                  <a:cubicBezTo>
                    <a:pt x="2558356" y="19496"/>
                    <a:pt x="2562632" y="29817"/>
                    <a:pt x="2562632" y="40579"/>
                  </a:cubicBezTo>
                  <a:lnTo>
                    <a:pt x="2562632" y="1511743"/>
                  </a:lnTo>
                  <a:cubicBezTo>
                    <a:pt x="2562632" y="1522506"/>
                    <a:pt x="2558356" y="1532827"/>
                    <a:pt x="2550746" y="1540437"/>
                  </a:cubicBezTo>
                  <a:cubicBezTo>
                    <a:pt x="2543136" y="1548048"/>
                    <a:pt x="2532814" y="1552323"/>
                    <a:pt x="2522052" y="1552323"/>
                  </a:cubicBezTo>
                  <a:lnTo>
                    <a:pt x="40579" y="1552323"/>
                  </a:lnTo>
                  <a:cubicBezTo>
                    <a:pt x="29817" y="1552323"/>
                    <a:pt x="19496" y="1548048"/>
                    <a:pt x="11885" y="1540437"/>
                  </a:cubicBezTo>
                  <a:cubicBezTo>
                    <a:pt x="4275" y="1532827"/>
                    <a:pt x="0" y="1522506"/>
                    <a:pt x="0" y="1511743"/>
                  </a:cubicBezTo>
                  <a:lnTo>
                    <a:pt x="0" y="40579"/>
                  </a:lnTo>
                  <a:cubicBezTo>
                    <a:pt x="0" y="29817"/>
                    <a:pt x="4275" y="19496"/>
                    <a:pt x="11885" y="11885"/>
                  </a:cubicBezTo>
                  <a:cubicBezTo>
                    <a:pt x="19496" y="4275"/>
                    <a:pt x="29817" y="0"/>
                    <a:pt x="4057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562632" cy="16094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452611" y="1207707"/>
            <a:ext cx="7390069" cy="5821873"/>
            <a:chOff x="0" y="0"/>
            <a:chExt cx="1946356" cy="15333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46356" cy="1533333"/>
            </a:xfrm>
            <a:custGeom>
              <a:avLst/>
              <a:gdLst/>
              <a:ahLst/>
              <a:cxnLst/>
              <a:rect r="r" b="b" t="t" l="l"/>
              <a:pathLst>
                <a:path h="1533333" w="1946356">
                  <a:moveTo>
                    <a:pt x="53428" y="0"/>
                  </a:moveTo>
                  <a:lnTo>
                    <a:pt x="1892927" y="0"/>
                  </a:lnTo>
                  <a:cubicBezTo>
                    <a:pt x="1907098" y="0"/>
                    <a:pt x="1920687" y="5629"/>
                    <a:pt x="1930707" y="15649"/>
                  </a:cubicBezTo>
                  <a:cubicBezTo>
                    <a:pt x="1940727" y="25668"/>
                    <a:pt x="1946356" y="39258"/>
                    <a:pt x="1946356" y="53428"/>
                  </a:cubicBezTo>
                  <a:lnTo>
                    <a:pt x="1946356" y="1479905"/>
                  </a:lnTo>
                  <a:cubicBezTo>
                    <a:pt x="1946356" y="1494075"/>
                    <a:pt x="1940727" y="1507664"/>
                    <a:pt x="1930707" y="1517684"/>
                  </a:cubicBezTo>
                  <a:cubicBezTo>
                    <a:pt x="1920687" y="1527704"/>
                    <a:pt x="1907098" y="1533333"/>
                    <a:pt x="1892927" y="1533333"/>
                  </a:cubicBezTo>
                  <a:lnTo>
                    <a:pt x="53428" y="1533333"/>
                  </a:lnTo>
                  <a:cubicBezTo>
                    <a:pt x="39258" y="1533333"/>
                    <a:pt x="25668" y="1527704"/>
                    <a:pt x="15649" y="1517684"/>
                  </a:cubicBezTo>
                  <a:cubicBezTo>
                    <a:pt x="5629" y="1507664"/>
                    <a:pt x="0" y="1494075"/>
                    <a:pt x="0" y="1479905"/>
                  </a:cubicBezTo>
                  <a:lnTo>
                    <a:pt x="0" y="53428"/>
                  </a:lnTo>
                  <a:cubicBezTo>
                    <a:pt x="0" y="39258"/>
                    <a:pt x="5629" y="25668"/>
                    <a:pt x="15649" y="15649"/>
                  </a:cubicBezTo>
                  <a:cubicBezTo>
                    <a:pt x="25668" y="5629"/>
                    <a:pt x="39258" y="0"/>
                    <a:pt x="5342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946356" cy="15904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8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246356" y="9639081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16734" y="35158"/>
            <a:ext cx="13387246" cy="94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5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88587" y="2234512"/>
            <a:ext cx="6687452" cy="44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AI-based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 planning and timely reminders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labour &amp; machinery booking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real-time tracking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booking opportunities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steady income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machinery utilization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less idle time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Secure payments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transparent transaction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sharing of local resources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Sustainable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collaborative 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farming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ecosystem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Transforms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traditional farming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into an</a:t>
            </a:r>
            <a:r>
              <a:rPr lang="en-US" sz="2100">
                <a:solidFill>
                  <a:srgbClr val="0097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smart farming ecosystem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Enhances farmer’s income by</a:t>
            </a:r>
            <a:r>
              <a:rPr lang="en-US" sz="2100">
                <a:solidFill>
                  <a:srgbClr val="0097B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reducing operational costs</a:t>
            </a:r>
            <a:r>
              <a:rPr lang="en-US" b="true" sz="21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b="true" sz="210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increasing efficiency</a:t>
            </a: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1609" y="2234512"/>
            <a:ext cx="8989423" cy="4795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9214" indent="-224607" lvl="1">
              <a:lnSpc>
                <a:spcPts val="2912"/>
              </a:lnSpc>
              <a:buFont typeface="Arial"/>
              <a:buChar char="•"/>
            </a:pPr>
            <a:r>
              <a:rPr lang="en-US" sz="2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</a:t>
            </a:r>
            <a:r>
              <a:rPr lang="en-US" b="true" sz="208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farm productivity</a:t>
            </a:r>
            <a:r>
              <a:rPr lang="en-US" sz="2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AI-based planning and timely operations.</a:t>
            </a:r>
          </a:p>
          <a:p>
            <a:pPr algn="l" marL="449214" indent="-224607" lvl="1">
              <a:lnSpc>
                <a:spcPts val="2912"/>
              </a:lnSpc>
              <a:buFont typeface="Arial"/>
              <a:buChar char="•"/>
            </a:pPr>
            <a:r>
              <a:rPr lang="en-US" sz="2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</a:t>
            </a:r>
            <a:r>
              <a:rPr lang="en-US" b="true" sz="208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labour shortages</a:t>
            </a:r>
            <a:r>
              <a:rPr lang="en-US" sz="2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connecting farmers with verified labourers instantly.</a:t>
            </a:r>
          </a:p>
          <a:p>
            <a:pPr algn="l" marL="449214" indent="-224607" lvl="1">
              <a:lnSpc>
                <a:spcPts val="2912"/>
              </a:lnSpc>
              <a:buFont typeface="Arial"/>
              <a:buChar char="•"/>
            </a:pPr>
            <a:r>
              <a:rPr lang="en-US" sz="2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Optimizes</a:t>
            </a:r>
            <a:r>
              <a:rPr lang="en-US" b="true" sz="2080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machinery utilization</a:t>
            </a:r>
            <a:r>
              <a:rPr lang="en-US" sz="20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Smart Cooperative Booking.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Promotes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digital farming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online booking, tracking, and secure payments.</a:t>
            </a:r>
          </a:p>
          <a:p>
            <a:pPr algn="l" marL="454459" indent="-227229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Builds </a:t>
            </a:r>
            <a:r>
              <a:rPr lang="en-US" b="true" sz="2104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trust and transparency</a:t>
            </a: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OTP verification, ratings, and Smart Trust Score.</a:t>
            </a:r>
          </a:p>
          <a:p>
            <a:pPr algn="l" marL="454459" indent="-227229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</a:t>
            </a:r>
            <a:r>
              <a:rPr lang="en-US" b="true" sz="2104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sustainable agriculture</a:t>
            </a: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reducing fuel usage and resource wastage.</a:t>
            </a:r>
          </a:p>
          <a:p>
            <a:pPr algn="l" marL="454459" indent="-227229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Strengthens</a:t>
            </a:r>
            <a:r>
              <a:rPr lang="en-US" b="true" sz="2104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rural economy</a:t>
            </a: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creating employment and increasing farmers' income.</a:t>
            </a:r>
          </a:p>
          <a:p>
            <a:pPr algn="l" marL="454459" indent="-227229" lvl="1">
              <a:lnSpc>
                <a:spcPts val="2946"/>
              </a:lnSpc>
              <a:buFont typeface="Arial"/>
              <a:buChar char="•"/>
            </a:pP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</a:t>
            </a:r>
            <a:r>
              <a:rPr lang="en-US" b="true" sz="2104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crop productivity</a:t>
            </a:r>
            <a:r>
              <a:rPr lang="en-US" sz="2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intelligent planning and timely execution.</a:t>
            </a:r>
          </a:p>
          <a:p>
            <a:pPr algn="l">
              <a:lnSpc>
                <a:spcPts val="2946"/>
              </a:lnSpc>
            </a:pP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0" y="9531096"/>
            <a:ext cx="18288000" cy="755904"/>
          </a:xfrm>
          <a:custGeom>
            <a:avLst/>
            <a:gdLst/>
            <a:ahLst/>
            <a:cxnLst/>
            <a:rect r="r" b="b" t="t" l="l"/>
            <a:pathLst>
              <a:path h="755904" w="18288000">
                <a:moveTo>
                  <a:pt x="0" y="0"/>
                </a:moveTo>
                <a:lnTo>
                  <a:pt x="18288000" y="0"/>
                </a:lnTo>
                <a:lnTo>
                  <a:pt x="18288000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698438" y="9600074"/>
            <a:ext cx="2878122" cy="60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 skh.sanjivaniuniversity.co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7259300" y="-4628"/>
            <a:ext cx="1166760" cy="1212335"/>
            <a:chOff x="0" y="0"/>
            <a:chExt cx="2059699" cy="214015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59686" cy="2140204"/>
            </a:xfrm>
            <a:custGeom>
              <a:avLst/>
              <a:gdLst/>
              <a:ahLst/>
              <a:cxnLst/>
              <a:rect r="r" b="b" t="t" l="l"/>
              <a:pathLst>
                <a:path h="2140204" w="2059686">
                  <a:moveTo>
                    <a:pt x="0" y="0"/>
                  </a:moveTo>
                  <a:lnTo>
                    <a:pt x="2059686" y="0"/>
                  </a:lnTo>
                  <a:lnTo>
                    <a:pt x="2059686" y="2140204"/>
                  </a:lnTo>
                  <a:lnTo>
                    <a:pt x="0" y="2140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86" t="0" r="-1920" b="2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37302" y="57565"/>
            <a:ext cx="1260207" cy="574937"/>
          </a:xfrm>
          <a:custGeom>
            <a:avLst/>
            <a:gdLst/>
            <a:ahLst/>
            <a:cxnLst/>
            <a:rect r="r" b="b" t="t" l="l"/>
            <a:pathLst>
              <a:path h="574937" w="1260207">
                <a:moveTo>
                  <a:pt x="0" y="0"/>
                </a:moveTo>
                <a:lnTo>
                  <a:pt x="1260207" y="0"/>
                </a:lnTo>
                <a:lnTo>
                  <a:pt x="1260207" y="574937"/>
                </a:lnTo>
                <a:lnTo>
                  <a:pt x="0" y="5749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3595" r="0" b="-65595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394775" y="7066450"/>
            <a:ext cx="4431164" cy="516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8"/>
              </a:lnSpc>
              <a:spcBef>
                <a:spcPct val="0"/>
              </a:spcBef>
            </a:pPr>
            <a:r>
              <a:rPr lang="en-US" b="true" sz="28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OUTCOMES </a:t>
            </a:r>
          </a:p>
        </p:txBody>
      </p:sp>
      <p:sp>
        <p:nvSpPr>
          <p:cNvPr name="Freeform 27" id="27"/>
          <p:cNvSpPr/>
          <p:nvPr/>
        </p:nvSpPr>
        <p:spPr>
          <a:xfrm>
            <a:off x="2283308" y="7363004"/>
            <a:ext cx="5111466" cy="601355"/>
          </a:xfrm>
          <a:custGeom>
            <a:avLst/>
            <a:gdLst/>
            <a:ahLst/>
            <a:cxnLst/>
            <a:rect r="r" b="b" t="t" l="l"/>
            <a:pathLst>
              <a:path h="601355" w="5111466">
                <a:moveTo>
                  <a:pt x="5111467" y="0"/>
                </a:moveTo>
                <a:lnTo>
                  <a:pt x="228600" y="0"/>
                </a:lnTo>
                <a:cubicBezTo>
                  <a:pt x="102348" y="0"/>
                  <a:pt x="0" y="102348"/>
                  <a:pt x="0" y="228600"/>
                </a:cubicBezTo>
                <a:lnTo>
                  <a:pt x="0" y="60135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>
            <a:off x="11825939" y="7363004"/>
            <a:ext cx="4124801" cy="601355"/>
          </a:xfrm>
          <a:custGeom>
            <a:avLst/>
            <a:gdLst/>
            <a:ahLst/>
            <a:cxnLst/>
            <a:rect r="r" b="b" t="t" l="l"/>
            <a:pathLst>
              <a:path h="601355" w="4124801">
                <a:moveTo>
                  <a:pt x="0" y="0"/>
                </a:moveTo>
                <a:lnTo>
                  <a:pt x="3896201" y="0"/>
                </a:lnTo>
                <a:cubicBezTo>
                  <a:pt x="3956829" y="0"/>
                  <a:pt x="4014975" y="24085"/>
                  <a:pt x="4057845" y="66956"/>
                </a:cubicBezTo>
                <a:cubicBezTo>
                  <a:pt x="4100717" y="109826"/>
                  <a:pt x="4124801" y="167971"/>
                  <a:pt x="4124801" y="228600"/>
                </a:cubicBezTo>
                <a:lnTo>
                  <a:pt x="4124801" y="601355"/>
                </a:lnTo>
              </a:path>
            </a:pathLst>
          </a:cu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3061056" y="1280125"/>
            <a:ext cx="1718389" cy="59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b="true" sz="33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14620" y="1280125"/>
            <a:ext cx="2223400" cy="59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b="true" sz="3399" u="sng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BENIFITS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5631761" y="1631261"/>
            <a:ext cx="7329278" cy="7329278"/>
            <a:chOff x="0" y="0"/>
            <a:chExt cx="9772371" cy="97723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0" y="0"/>
                  </a:moveTo>
                  <a:lnTo>
                    <a:pt x="9772396" y="0"/>
                  </a:lnTo>
                  <a:lnTo>
                    <a:pt x="9772396" y="9772396"/>
                  </a:lnTo>
                  <a:lnTo>
                    <a:pt x="0" y="977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8850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1324" y="345034"/>
            <a:ext cx="1946472" cy="1277683"/>
          </a:xfrm>
          <a:custGeom>
            <a:avLst/>
            <a:gdLst/>
            <a:ahLst/>
            <a:cxnLst/>
            <a:rect r="r" b="b" t="t" l="l"/>
            <a:pathLst>
              <a:path h="1277683" w="1946472">
                <a:moveTo>
                  <a:pt x="0" y="0"/>
                </a:moveTo>
                <a:lnTo>
                  <a:pt x="1946472" y="0"/>
                </a:lnTo>
                <a:lnTo>
                  <a:pt x="1946472" y="1277683"/>
                </a:lnTo>
                <a:lnTo>
                  <a:pt x="0" y="127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6377" y="407955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46356" y="9639081"/>
            <a:ext cx="129683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74353" y="65724"/>
            <a:ext cx="1260207" cy="574937"/>
          </a:xfrm>
          <a:custGeom>
            <a:avLst/>
            <a:gdLst/>
            <a:ahLst/>
            <a:cxnLst/>
            <a:rect r="r" b="b" t="t" l="l"/>
            <a:pathLst>
              <a:path h="574937" w="1260207">
                <a:moveTo>
                  <a:pt x="0" y="0"/>
                </a:moveTo>
                <a:lnTo>
                  <a:pt x="1260207" y="0"/>
                </a:lnTo>
                <a:lnTo>
                  <a:pt x="1260207" y="574937"/>
                </a:lnTo>
                <a:lnTo>
                  <a:pt x="0" y="574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3595" r="0" b="-65595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0"/>
            <a:ext cx="1166760" cy="1212335"/>
            <a:chOff x="0" y="0"/>
            <a:chExt cx="2059699" cy="2140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59686" cy="2140204"/>
            </a:xfrm>
            <a:custGeom>
              <a:avLst/>
              <a:gdLst/>
              <a:ahLst/>
              <a:cxnLst/>
              <a:rect r="r" b="b" t="t" l="l"/>
              <a:pathLst>
                <a:path h="2140204" w="2059686">
                  <a:moveTo>
                    <a:pt x="0" y="0"/>
                  </a:moveTo>
                  <a:lnTo>
                    <a:pt x="2059686" y="0"/>
                  </a:lnTo>
                  <a:lnTo>
                    <a:pt x="2059686" y="2140204"/>
                  </a:lnTo>
                  <a:lnTo>
                    <a:pt x="0" y="2140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986" t="0" r="-1920" b="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-6501" y="9531096"/>
            <a:ext cx="18288000" cy="755904"/>
          </a:xfrm>
          <a:custGeom>
            <a:avLst/>
            <a:gdLst/>
            <a:ahLst/>
            <a:cxnLst/>
            <a:rect r="r" b="b" t="t" l="l"/>
            <a:pathLst>
              <a:path h="755904" w="18288000">
                <a:moveTo>
                  <a:pt x="0" y="0"/>
                </a:moveTo>
                <a:lnTo>
                  <a:pt x="18288000" y="0"/>
                </a:lnTo>
                <a:lnTo>
                  <a:pt x="18288000" y="755904"/>
                </a:lnTo>
                <a:lnTo>
                  <a:pt x="0" y="755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16015" y="1296770"/>
            <a:ext cx="8064975" cy="7961530"/>
            <a:chOff x="0" y="0"/>
            <a:chExt cx="2124109" cy="20968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24109" cy="2096864"/>
            </a:xfrm>
            <a:custGeom>
              <a:avLst/>
              <a:gdLst/>
              <a:ahLst/>
              <a:cxnLst/>
              <a:rect r="r" b="b" t="t" l="l"/>
              <a:pathLst>
                <a:path h="2096864" w="2124109">
                  <a:moveTo>
                    <a:pt x="0" y="0"/>
                  </a:moveTo>
                  <a:lnTo>
                    <a:pt x="2124109" y="0"/>
                  </a:lnTo>
                  <a:lnTo>
                    <a:pt x="2124109" y="2096864"/>
                  </a:lnTo>
                  <a:lnTo>
                    <a:pt x="0" y="2096864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24109" cy="21444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6648" y="1367299"/>
            <a:ext cx="7916245" cy="977592"/>
            <a:chOff x="0" y="0"/>
            <a:chExt cx="2084937" cy="2574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4937" cy="257473"/>
            </a:xfrm>
            <a:custGeom>
              <a:avLst/>
              <a:gdLst/>
              <a:ahLst/>
              <a:cxnLst/>
              <a:rect r="r" b="b" t="t" l="l"/>
              <a:pathLst>
                <a:path h="257473" w="2084937">
                  <a:moveTo>
                    <a:pt x="0" y="0"/>
                  </a:moveTo>
                  <a:lnTo>
                    <a:pt x="2084937" y="0"/>
                  </a:lnTo>
                  <a:lnTo>
                    <a:pt x="2084937" y="257473"/>
                  </a:lnTo>
                  <a:lnTo>
                    <a:pt x="0" y="257473"/>
                  </a:lnTo>
                  <a:close/>
                </a:path>
              </a:pathLst>
            </a:custGeom>
            <a:solidFill>
              <a:srgbClr val="FFD9C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2084937" cy="305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8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4708860" y="-50540"/>
            <a:ext cx="10249377" cy="948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704939" y="9599550"/>
            <a:ext cx="2878122" cy="60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5"/>
              </a:lnSpc>
            </a:pPr>
            <a:r>
              <a:rPr lang="en-US" b="true" sz="1999">
                <a:solidFill>
                  <a:srgbClr val="0054A3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sanjivani.edu.in skh.sanjivaniuniversity.co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2228" y="2754466"/>
            <a:ext cx="6861832" cy="631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230" indent="-226615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the challenges faced by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farmers, labourers, and machinery owners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rural Maharashtra.</a:t>
            </a:r>
          </a:p>
          <a:p>
            <a:pPr algn="l">
              <a:lnSpc>
                <a:spcPts val="2938"/>
              </a:lnSpc>
            </a:pPr>
          </a:p>
          <a:p>
            <a:pPr algn="l" marL="453230" indent="-226615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Identified major issues such as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labour shortages, machinery underutilization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delayed farm operations.</a:t>
            </a:r>
          </a:p>
          <a:p>
            <a:pPr algn="l">
              <a:lnSpc>
                <a:spcPts val="2938"/>
              </a:lnSpc>
            </a:pPr>
          </a:p>
          <a:p>
            <a:pPr algn="l" marL="453230" indent="-226615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Explored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AI-based farm planning, cooperative resource sharing, and digital booking systems 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practical solutions.</a:t>
            </a:r>
          </a:p>
          <a:p>
            <a:pPr algn="l">
              <a:lnSpc>
                <a:spcPts val="2938"/>
              </a:lnSpc>
            </a:pPr>
          </a:p>
          <a:p>
            <a:pPr algn="l" marL="453230" indent="-226615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Reviewed national initiatives promoting 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Digital Agriculture</a:t>
            </a: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rural digital transformation.</a:t>
            </a:r>
          </a:p>
          <a:p>
            <a:pPr algn="l">
              <a:lnSpc>
                <a:spcPts val="2938"/>
              </a:lnSpc>
            </a:pPr>
          </a:p>
          <a:p>
            <a:pPr algn="l" marL="453230" indent="-226615" lvl="1">
              <a:lnSpc>
                <a:spcPts val="2938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findings formed the foundation of the </a:t>
            </a:r>
            <a:r>
              <a:rPr lang="en-US" b="true" sz="2099">
                <a:solidFill>
                  <a:srgbClr val="0097B2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Kopargaon Platform.</a:t>
            </a:r>
          </a:p>
          <a:p>
            <a:pPr algn="l">
              <a:lnSpc>
                <a:spcPts val="2938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789442" y="1513503"/>
            <a:ext cx="5130657" cy="59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8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INSIGHTS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669324" y="1437186"/>
            <a:ext cx="9385875" cy="4487165"/>
            <a:chOff x="0" y="0"/>
            <a:chExt cx="12514500" cy="5982887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234582" y="22374"/>
              <a:ext cx="5012761" cy="1583576"/>
              <a:chOff x="0" y="0"/>
              <a:chExt cx="812800" cy="25677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256771"/>
              </a:xfrm>
              <a:custGeom>
                <a:avLst/>
                <a:gdLst/>
                <a:ahLst/>
                <a:cxnLst/>
                <a:rect r="r" b="b" t="t" l="l"/>
                <a:pathLst>
                  <a:path h="256771" w="812800">
                    <a:moveTo>
                      <a:pt x="609600" y="0"/>
                    </a:moveTo>
                    <a:cubicBezTo>
                      <a:pt x="721824" y="0"/>
                      <a:pt x="812800" y="57480"/>
                      <a:pt x="812800" y="128385"/>
                    </a:cubicBezTo>
                    <a:cubicBezTo>
                      <a:pt x="812800" y="199291"/>
                      <a:pt x="721824" y="256771"/>
                      <a:pt x="609600" y="256771"/>
                    </a:cubicBezTo>
                    <a:lnTo>
                      <a:pt x="203200" y="256771"/>
                    </a:lnTo>
                    <a:cubicBezTo>
                      <a:pt x="90976" y="256771"/>
                      <a:pt x="0" y="199291"/>
                      <a:pt x="0" y="128385"/>
                    </a:cubicBezTo>
                    <a:cubicBezTo>
                      <a:pt x="0" y="574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FFEB9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47625"/>
                <a:ext cx="812800" cy="304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8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2643510"/>
              <a:ext cx="5012761" cy="1583576"/>
              <a:chOff x="0" y="0"/>
              <a:chExt cx="812800" cy="2567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256771"/>
              </a:xfrm>
              <a:custGeom>
                <a:avLst/>
                <a:gdLst/>
                <a:ahLst/>
                <a:cxnLst/>
                <a:rect r="r" b="b" t="t" l="l"/>
                <a:pathLst>
                  <a:path h="256771" w="812800">
                    <a:moveTo>
                      <a:pt x="609600" y="0"/>
                    </a:moveTo>
                    <a:cubicBezTo>
                      <a:pt x="721824" y="0"/>
                      <a:pt x="812800" y="57480"/>
                      <a:pt x="812800" y="128385"/>
                    </a:cubicBezTo>
                    <a:cubicBezTo>
                      <a:pt x="812800" y="199291"/>
                      <a:pt x="721824" y="256771"/>
                      <a:pt x="609600" y="256771"/>
                    </a:cubicBezTo>
                    <a:lnTo>
                      <a:pt x="203200" y="256771"/>
                    </a:lnTo>
                    <a:cubicBezTo>
                      <a:pt x="90976" y="256771"/>
                      <a:pt x="0" y="199291"/>
                      <a:pt x="0" y="128385"/>
                    </a:cubicBezTo>
                    <a:cubicBezTo>
                      <a:pt x="0" y="574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47625"/>
                <a:ext cx="812800" cy="304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8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913907" y="4399312"/>
              <a:ext cx="5012761" cy="1583576"/>
              <a:chOff x="0" y="0"/>
              <a:chExt cx="812800" cy="25677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256771"/>
              </a:xfrm>
              <a:custGeom>
                <a:avLst/>
                <a:gdLst/>
                <a:ahLst/>
                <a:cxnLst/>
                <a:rect r="r" b="b" t="t" l="l"/>
                <a:pathLst>
                  <a:path h="256771" w="812800">
                    <a:moveTo>
                      <a:pt x="609600" y="0"/>
                    </a:moveTo>
                    <a:cubicBezTo>
                      <a:pt x="721824" y="0"/>
                      <a:pt x="812800" y="57480"/>
                      <a:pt x="812800" y="128385"/>
                    </a:cubicBezTo>
                    <a:cubicBezTo>
                      <a:pt x="812800" y="199291"/>
                      <a:pt x="721824" y="256771"/>
                      <a:pt x="609600" y="256771"/>
                    </a:cubicBezTo>
                    <a:lnTo>
                      <a:pt x="203200" y="256771"/>
                    </a:lnTo>
                    <a:cubicBezTo>
                      <a:pt x="90976" y="256771"/>
                      <a:pt x="0" y="199291"/>
                      <a:pt x="0" y="128385"/>
                    </a:cubicBezTo>
                    <a:cubicBezTo>
                      <a:pt x="0" y="574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812800" cy="304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8"/>
                  </a:lnSpc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7501739" y="2610180"/>
              <a:ext cx="5012761" cy="1583576"/>
              <a:chOff x="0" y="0"/>
              <a:chExt cx="812800" cy="25677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256771"/>
              </a:xfrm>
              <a:custGeom>
                <a:avLst/>
                <a:gdLst/>
                <a:ahLst/>
                <a:cxnLst/>
                <a:rect r="r" b="b" t="t" l="l"/>
                <a:pathLst>
                  <a:path h="256771" w="812800">
                    <a:moveTo>
                      <a:pt x="609600" y="0"/>
                    </a:moveTo>
                    <a:cubicBezTo>
                      <a:pt x="721824" y="0"/>
                      <a:pt x="812800" y="57480"/>
                      <a:pt x="812800" y="128385"/>
                    </a:cubicBezTo>
                    <a:cubicBezTo>
                      <a:pt x="812800" y="199291"/>
                      <a:pt x="721824" y="256771"/>
                      <a:pt x="609600" y="256771"/>
                    </a:cubicBezTo>
                    <a:lnTo>
                      <a:pt x="203200" y="256771"/>
                    </a:lnTo>
                    <a:cubicBezTo>
                      <a:pt x="90976" y="256771"/>
                      <a:pt x="0" y="199291"/>
                      <a:pt x="0" y="128385"/>
                    </a:cubicBezTo>
                    <a:cubicBezTo>
                      <a:pt x="0" y="574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47625"/>
                <a:ext cx="812800" cy="304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8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7030951" y="0"/>
              <a:ext cx="5012761" cy="1583576"/>
              <a:chOff x="0" y="0"/>
              <a:chExt cx="812800" cy="256771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256771"/>
              </a:xfrm>
              <a:custGeom>
                <a:avLst/>
                <a:gdLst/>
                <a:ahLst/>
                <a:cxnLst/>
                <a:rect r="r" b="b" t="t" l="l"/>
                <a:pathLst>
                  <a:path h="256771" w="812800">
                    <a:moveTo>
                      <a:pt x="609600" y="0"/>
                    </a:moveTo>
                    <a:cubicBezTo>
                      <a:pt x="721824" y="0"/>
                      <a:pt x="812800" y="57480"/>
                      <a:pt x="812800" y="128385"/>
                    </a:cubicBezTo>
                    <a:cubicBezTo>
                      <a:pt x="812800" y="199291"/>
                      <a:pt x="721824" y="256771"/>
                      <a:pt x="609600" y="256771"/>
                    </a:cubicBezTo>
                    <a:lnTo>
                      <a:pt x="203200" y="256771"/>
                    </a:lnTo>
                    <a:cubicBezTo>
                      <a:pt x="90976" y="256771"/>
                      <a:pt x="0" y="199291"/>
                      <a:pt x="0" y="128385"/>
                    </a:cubicBezTo>
                    <a:cubicBezTo>
                      <a:pt x="0" y="57480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C2CD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47625"/>
                <a:ext cx="812800" cy="30439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8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4674719" y="1583576"/>
              <a:ext cx="3026027" cy="2384220"/>
              <a:chOff x="0" y="0"/>
              <a:chExt cx="520700" cy="410262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520700" cy="401463"/>
              </a:xfrm>
              <a:custGeom>
                <a:avLst/>
                <a:gdLst/>
                <a:ahLst/>
                <a:cxnLst/>
                <a:rect r="r" b="b" t="t" l="l"/>
                <a:pathLst>
                  <a:path h="401463" w="520700">
                    <a:moveTo>
                      <a:pt x="0" y="24393"/>
                    </a:moveTo>
                    <a:lnTo>
                      <a:pt x="0" y="169969"/>
                    </a:lnTo>
                    <a:cubicBezTo>
                      <a:pt x="0" y="185421"/>
                      <a:pt x="6883" y="200069"/>
                      <a:pt x="18777" y="209933"/>
                    </a:cubicBezTo>
                    <a:lnTo>
                      <a:pt x="241573" y="394691"/>
                    </a:lnTo>
                    <a:cubicBezTo>
                      <a:pt x="252463" y="403721"/>
                      <a:pt x="268237" y="403721"/>
                      <a:pt x="279127" y="394691"/>
                    </a:cubicBezTo>
                    <a:lnTo>
                      <a:pt x="501923" y="209933"/>
                    </a:lnTo>
                    <a:cubicBezTo>
                      <a:pt x="513817" y="200069"/>
                      <a:pt x="520700" y="185421"/>
                      <a:pt x="520700" y="169969"/>
                    </a:cubicBezTo>
                    <a:lnTo>
                      <a:pt x="520700" y="24393"/>
                    </a:lnTo>
                    <a:cubicBezTo>
                      <a:pt x="520700" y="17923"/>
                      <a:pt x="518130" y="11719"/>
                      <a:pt x="513555" y="7145"/>
                    </a:cubicBezTo>
                    <a:cubicBezTo>
                      <a:pt x="508981" y="2570"/>
                      <a:pt x="502777" y="0"/>
                      <a:pt x="496307" y="0"/>
                    </a:cubicBezTo>
                    <a:lnTo>
                      <a:pt x="24393" y="0"/>
                    </a:lnTo>
                    <a:cubicBezTo>
                      <a:pt x="17923" y="0"/>
                      <a:pt x="11719" y="2570"/>
                      <a:pt x="7145" y="7145"/>
                    </a:cubicBezTo>
                    <a:cubicBezTo>
                      <a:pt x="2570" y="11719"/>
                      <a:pt x="0" y="17923"/>
                      <a:pt x="0" y="24393"/>
                    </a:cubicBezTo>
                    <a:close/>
                  </a:path>
                </a:pathLst>
              </a:custGeom>
              <a:solidFill>
                <a:srgbClr val="FFC09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22225"/>
                <a:ext cx="520700" cy="2038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98"/>
                  </a:lnSpc>
                </a:pPr>
              </a:p>
            </p:txBody>
          </p:sp>
        </p:grpSp>
        <p:sp>
          <p:nvSpPr>
            <p:cNvPr name="AutoShape 38" id="38"/>
            <p:cNvSpPr/>
            <p:nvPr/>
          </p:nvSpPr>
          <p:spPr>
            <a:xfrm flipH="true">
              <a:off x="2225977" y="1587130"/>
              <a:ext cx="468735" cy="1056380"/>
            </a:xfrm>
            <a:prstGeom prst="line">
              <a:avLst/>
            </a:prstGeom>
            <a:ln cap="flat" w="4050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9" id="39"/>
            <p:cNvSpPr/>
            <p:nvPr/>
          </p:nvSpPr>
          <p:spPr>
            <a:xfrm>
              <a:off x="2364174" y="4235975"/>
              <a:ext cx="1594716" cy="744136"/>
            </a:xfrm>
            <a:prstGeom prst="line">
              <a:avLst/>
            </a:prstGeom>
            <a:ln cap="flat" w="4050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0" id="40"/>
            <p:cNvSpPr/>
            <p:nvPr/>
          </p:nvSpPr>
          <p:spPr>
            <a:xfrm flipV="true">
              <a:off x="8886789" y="4193756"/>
              <a:ext cx="1121330" cy="801465"/>
            </a:xfrm>
            <a:prstGeom prst="line">
              <a:avLst/>
            </a:prstGeom>
            <a:ln cap="flat" w="4050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1" id="41"/>
            <p:cNvSpPr/>
            <p:nvPr/>
          </p:nvSpPr>
          <p:spPr>
            <a:xfrm>
              <a:off x="10129191" y="1583576"/>
              <a:ext cx="362369" cy="1026604"/>
            </a:xfrm>
            <a:prstGeom prst="line">
              <a:avLst/>
            </a:prstGeom>
            <a:ln cap="flat" w="4050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2" id="42"/>
            <p:cNvSpPr/>
            <p:nvPr/>
          </p:nvSpPr>
          <p:spPr>
            <a:xfrm flipV="true">
              <a:off x="5247342" y="791788"/>
              <a:ext cx="1783609" cy="22374"/>
            </a:xfrm>
            <a:prstGeom prst="line">
              <a:avLst/>
            </a:prstGeom>
            <a:ln cap="flat" w="40502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4788005" y="1985961"/>
              <a:ext cx="2799457" cy="5330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47"/>
                </a:lnSpc>
                <a:spcBef>
                  <a:spcPct val="0"/>
                </a:spcBef>
              </a:pPr>
              <a:r>
                <a:rPr lang="en-US" b="true" sz="239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REFERENCES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507631" y="209184"/>
              <a:ext cx="4466662" cy="1117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Indian Council of Agricultural Research (ICAR)</a:t>
              </a:r>
            </a:p>
            <a:p>
              <a:pPr algn="ctr">
                <a:lnSpc>
                  <a:spcPts val="2231"/>
                </a:lnSpc>
                <a:spcBef>
                  <a:spcPct val="0"/>
                </a:spcBef>
              </a:pPr>
              <a:r>
                <a:rPr lang="en-US" b="true" sz="1593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0" tooltip="https://icar.org.in"/>
                </a:rPr>
                <a:t>https://icar.org.in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50556" y="3006688"/>
              <a:ext cx="4742268" cy="74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Department of Agriculture, Maharashtra</a:t>
              </a:r>
            </a:p>
            <a:p>
              <a:pPr algn="ctr">
                <a:lnSpc>
                  <a:spcPts val="2231"/>
                </a:lnSpc>
                <a:spcBef>
                  <a:spcPct val="0"/>
                </a:spcBef>
              </a:pPr>
              <a:r>
                <a:rPr lang="en-US" b="true" sz="1593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1" tooltip="https://krishi.maharashtra.gov.in"/>
                </a:rPr>
                <a:t>https://krishi.maharashtra.gov.in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4146460" y="4795819"/>
              <a:ext cx="4547653" cy="74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Food and Agriculture Organization (FAO)</a:t>
              </a:r>
            </a:p>
            <a:p>
              <a:pPr algn="ctr">
                <a:lnSpc>
                  <a:spcPts val="2231"/>
                </a:lnSpc>
                <a:spcBef>
                  <a:spcPct val="0"/>
                </a:spcBef>
              </a:pPr>
              <a:r>
                <a:rPr lang="en-US" b="true" sz="1593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2" tooltip="https://www.fao.org"/>
                </a:rPr>
                <a:t>https://www.fao.org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7812128" y="2857366"/>
              <a:ext cx="4577080" cy="742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e-NAM – National Agriculture Market</a:t>
              </a:r>
            </a:p>
            <a:p>
              <a:pPr algn="ctr">
                <a:lnSpc>
                  <a:spcPts val="2231"/>
                </a:lnSpc>
                <a:spcBef>
                  <a:spcPct val="0"/>
                </a:spcBef>
              </a:pPr>
              <a:r>
                <a:rPr lang="en-US" b="true" sz="1593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3" tooltip="https://enam.gov.in"/>
                </a:rPr>
                <a:t>https://enam.gov.in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7597587" y="162440"/>
              <a:ext cx="3879488" cy="11175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31"/>
                </a:lnSpc>
              </a:pPr>
              <a:r>
                <a:rPr lang="en-US" sz="15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Ministry of Agriculture &amp; Farmers Welfare</a:t>
              </a:r>
            </a:p>
            <a:p>
              <a:pPr algn="ctr">
                <a:lnSpc>
                  <a:spcPts val="2231"/>
                </a:lnSpc>
                <a:spcBef>
                  <a:spcPct val="0"/>
                </a:spcBef>
              </a:pPr>
              <a:r>
                <a:rPr lang="en-US" b="true" sz="1593" u="sng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  <a:hlinkClick r:id="rId14" tooltip="https://agricoop.gov.in"/>
                </a:rPr>
                <a:t>https://agricoop.gov.in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914064" y="6613263"/>
            <a:ext cx="9141135" cy="2645037"/>
            <a:chOff x="0" y="0"/>
            <a:chExt cx="2407542" cy="69663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07542" cy="696635"/>
            </a:xfrm>
            <a:custGeom>
              <a:avLst/>
              <a:gdLst/>
              <a:ahLst/>
              <a:cxnLst/>
              <a:rect r="r" b="b" t="t" l="l"/>
              <a:pathLst>
                <a:path h="696635" w="2407542">
                  <a:moveTo>
                    <a:pt x="0" y="0"/>
                  </a:moveTo>
                  <a:lnTo>
                    <a:pt x="2407542" y="0"/>
                  </a:lnTo>
                  <a:lnTo>
                    <a:pt x="2407542" y="696635"/>
                  </a:lnTo>
                  <a:lnTo>
                    <a:pt x="0" y="696635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407542" cy="753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8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9144000" y="6671290"/>
            <a:ext cx="6652416" cy="599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8"/>
              </a:lnSpc>
            </a:pPr>
            <a:r>
              <a:rPr lang="en-US" sz="33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144000" y="7489825"/>
            <a:ext cx="8705181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</a:t>
            </a:r>
            <a:r>
              <a:rPr lang="en-US" b="true" sz="2000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 weather forecasts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lang="en-US" sz="2000">
                <a:solidFill>
                  <a:srgbClr val="39C09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b="true" sz="2000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crop advice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help farmers make better farming decisions.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</a:t>
            </a:r>
            <a:r>
              <a:rPr lang="en-US" b="true" sz="2000">
                <a:solidFill>
                  <a:srgbClr val="0CC0D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000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drones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</a:t>
            </a: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2000">
                <a:solidFill>
                  <a:srgbClr val="39C09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sensors</a:t>
            </a: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monitor crops, check field conditions, and improve farming efficiency.</a:t>
            </a:r>
          </a:p>
          <a:p>
            <a:pPr algn="l">
              <a:lnSpc>
                <a:spcPts val="2800"/>
              </a:lnSpc>
            </a:pPr>
          </a:p>
        </p:txBody>
      </p:sp>
      <p:grpSp>
        <p:nvGrpSpPr>
          <p:cNvPr name="Group 54" id="54"/>
          <p:cNvGrpSpPr/>
          <p:nvPr/>
        </p:nvGrpSpPr>
        <p:grpSpPr>
          <a:xfrm rot="0">
            <a:off x="5479361" y="1437186"/>
            <a:ext cx="7329278" cy="7329278"/>
            <a:chOff x="0" y="0"/>
            <a:chExt cx="9772371" cy="977237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72396" cy="9772396"/>
            </a:xfrm>
            <a:custGeom>
              <a:avLst/>
              <a:gdLst/>
              <a:ahLst/>
              <a:cxnLst/>
              <a:rect r="r" b="b" t="t" l="l"/>
              <a:pathLst>
                <a:path h="9772396" w="9772396">
                  <a:moveTo>
                    <a:pt x="0" y="0"/>
                  </a:moveTo>
                  <a:lnTo>
                    <a:pt x="9772396" y="0"/>
                  </a:lnTo>
                  <a:lnTo>
                    <a:pt x="9772396" y="9772396"/>
                  </a:lnTo>
                  <a:lnTo>
                    <a:pt x="0" y="9772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alphaModFix amt="8850"/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DAHQMiWOcB0</dc:identifier>
  <dcterms:modified xsi:type="dcterms:W3CDTF">2011-08-01T06:04:30Z</dcterms:modified>
  <cp:revision>1</cp:revision>
  <dc:title>7826e7c8-15c1-45da-907c-1d9999cfb05b.pdf</dc:title>
</cp:coreProperties>
</file>